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91440" cy="6729984"/>
          </a:xfrm>
          <a:prstGeom prst="rect">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384048"/>
          </a:xfrm>
          <a:prstGeom prst="rect">
            <a:avLst/>
          </a:prstGeom>
          <a:noFill/>
        </p:spPr>
        <p:txBody>
          <a:bodyPr wrap="square" anchor="t" lIns="38100" rIns="38100" tIns="12700" bIns="12700">
            <a:spAutoFit/>
          </a:bodyPr>
          <a:lstStyle/>
          <a:p>
            <a:pPr algn="ctr">
              <a:lnSpc>
                <a:spcPct val="100000"/>
              </a:lnSpc>
            </a:pPr>
            <a:r>
              <a:rPr sz="2200" b="1" i="0">
                <a:solidFill>
                  <a:srgbClr val="E2E8F2"/>
                </a:solidFill>
                <a:latin typeface="Calibri"/>
              </a:rPr>
              <a:t>UNIVERSITY OF GHANA</a:t>
            </a:r>
          </a:p>
        </p:txBody>
      </p:sp>
      <p:sp>
        <p:nvSpPr>
          <p:cNvPr id="5" name="TextBox 4"/>
          <p:cNvSpPr txBox="1"/>
          <p:nvPr/>
        </p:nvSpPr>
        <p:spPr>
          <a:xfrm>
            <a:off x="548640" y="749808"/>
            <a:ext cx="1109441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COLLEGE OF BASIC AND APPLIED SCIENCES</a:t>
            </a:r>
          </a:p>
        </p:txBody>
      </p:sp>
      <p:sp>
        <p:nvSpPr>
          <p:cNvPr id="6" name="TextBox 5"/>
          <p:cNvSpPr txBox="1"/>
          <p:nvPr/>
        </p:nvSpPr>
        <p:spPr>
          <a:xfrm>
            <a:off x="548640" y="969264"/>
            <a:ext cx="1109441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DEPARTMENT OF COMPUTER SCIENCE</a:t>
            </a:r>
          </a:p>
        </p:txBody>
      </p:sp>
      <p:sp>
        <p:nvSpPr>
          <p:cNvPr id="7" name="Rectangle 6"/>
          <p:cNvSpPr/>
          <p:nvPr/>
        </p:nvSpPr>
        <p:spPr>
          <a:xfrm>
            <a:off x="4937760" y="1417320"/>
            <a:ext cx="2313432" cy="45720"/>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11094415" cy="274320"/>
          </a:xfrm>
          <a:prstGeom prst="rect">
            <a:avLst/>
          </a:prstGeom>
          <a:noFill/>
        </p:spPr>
        <p:txBody>
          <a:bodyPr wrap="square" anchor="t" lIns="38100" rIns="38100" tIns="12700" bIns="12700">
            <a:spAutoFit/>
          </a:bodyPr>
          <a:lstStyle/>
          <a:p>
            <a:pPr algn="ctr">
              <a:lnSpc>
                <a:spcPct val="100000"/>
              </a:lnSpc>
            </a:pPr>
            <a:r>
              <a:rPr sz="1100" b="0" i="1">
                <a:solidFill>
                  <a:srgbClr val="6B778C"/>
                </a:solidFill>
                <a:latin typeface="Calibri"/>
              </a:rPr>
              <a:t>TITLE</a:t>
            </a:r>
          </a:p>
        </p:txBody>
      </p:sp>
      <p:sp>
        <p:nvSpPr>
          <p:cNvPr id="9" name="TextBox 8"/>
          <p:cNvSpPr txBox="1"/>
          <p:nvPr/>
        </p:nvSpPr>
        <p:spPr>
          <a:xfrm>
            <a:off x="457200" y="1874519"/>
            <a:ext cx="11277295" cy="1371600"/>
          </a:xfrm>
          <a:prstGeom prst="rect">
            <a:avLst/>
          </a:prstGeom>
          <a:noFill/>
        </p:spPr>
        <p:txBody>
          <a:bodyPr wrap="square" anchor="t" lIns="38100" rIns="38100" tIns="12700" bIns="12700">
            <a:spAutoFit/>
          </a:bodyPr>
          <a:lstStyle/>
          <a:p>
            <a:pPr algn="ctr">
              <a:lnSpc>
                <a:spcPct val="100000"/>
              </a:lnSpc>
            </a:pPr>
            <a:r>
              <a:rPr sz="5000" b="1" i="0">
                <a:solidFill>
                  <a:srgbClr val="FFFFFF"/>
                </a:solidFill>
                <a:latin typeface="Calibri"/>
              </a:rPr>
              <a:t>EduRisk Predictor</a:t>
            </a:r>
          </a:p>
        </p:txBody>
      </p:sp>
      <p:sp>
        <p:nvSpPr>
          <p:cNvPr id="10" name="Rectangle 9"/>
          <p:cNvSpPr/>
          <p:nvPr/>
        </p:nvSpPr>
        <p:spPr>
          <a:xfrm>
            <a:off x="4572000" y="3063240"/>
            <a:ext cx="3044952" cy="64008"/>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200400"/>
            <a:ext cx="10728655" cy="1280160"/>
          </a:xfrm>
          <a:prstGeom prst="rect">
            <a:avLst/>
          </a:prstGeom>
          <a:noFill/>
        </p:spPr>
        <p:txBody>
          <a:bodyPr wrap="square" anchor="t" lIns="38100" rIns="38100" tIns="12700" bIns="12700">
            <a:spAutoFit/>
          </a:bodyPr>
          <a:lstStyle/>
          <a:p>
            <a:pPr algn="ctr">
              <a:lnSpc>
                <a:spcPct val="140000"/>
              </a:lnSpc>
            </a:pPr>
            <a:r>
              <a:rPr sz="1700" b="0" i="0">
                <a:solidFill>
                  <a:srgbClr val="E2E8F2"/>
                </a:solidFill>
                <a:latin typeface="Calibri"/>
              </a:rPr>
              <a:t>An AI-Based System for Predicting University Students’ Academic Performance and Assisting Lecturers and Academic Advisors in Identifying At-Risk Students Early</a:t>
            </a:r>
          </a:p>
        </p:txBody>
      </p:sp>
      <p:sp>
        <p:nvSpPr>
          <p:cNvPr id="12" name="TextBox 11"/>
          <p:cNvSpPr txBox="1"/>
          <p:nvPr/>
        </p:nvSpPr>
        <p:spPr>
          <a:xfrm>
            <a:off x="548640" y="4526280"/>
            <a:ext cx="1109441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A THESIS SUBMITTED TO THE SCHOOL OF GRADUATE STUDIES IN</a:t>
            </a:r>
          </a:p>
        </p:txBody>
      </p:sp>
      <p:sp>
        <p:nvSpPr>
          <p:cNvPr id="13" name="TextBox 12"/>
          <p:cNvSpPr txBox="1"/>
          <p:nvPr/>
        </p:nvSpPr>
        <p:spPr>
          <a:xfrm>
            <a:off x="548640" y="4800600"/>
            <a:ext cx="1109441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PARTIAL FULFILLMENT OF THE AWARD OF DEGREE OF MASTER OF PHILOSOPHY / MASTER OF SCIENCE IN COMPUTER SCIENCE</a:t>
            </a:r>
          </a:p>
        </p:txBody>
      </p:sp>
      <p:sp>
        <p:nvSpPr>
          <p:cNvPr id="14" name="TextBox 13"/>
          <p:cNvSpPr txBox="1"/>
          <p:nvPr/>
        </p:nvSpPr>
        <p:spPr>
          <a:xfrm>
            <a:off x="548640" y="5074920"/>
            <a:ext cx="1109441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DEPARTMENT OF COMPUTER SCIENCE</a:t>
            </a:r>
          </a:p>
        </p:txBody>
      </p:sp>
      <p:sp>
        <p:nvSpPr>
          <p:cNvPr id="15" name="Rectangle 14"/>
          <p:cNvSpPr/>
          <p:nvPr/>
        </p:nvSpPr>
        <p:spPr>
          <a:xfrm>
            <a:off x="4937760" y="5440680"/>
            <a:ext cx="2313432" cy="36576"/>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559552"/>
            <a:ext cx="11094415" cy="384048"/>
          </a:xfrm>
          <a:prstGeom prst="rect">
            <a:avLst/>
          </a:prstGeom>
          <a:noFill/>
        </p:spPr>
        <p:txBody>
          <a:bodyPr wrap="square" anchor="t" lIns="38100" rIns="38100" tIns="12700" bIns="12700">
            <a:spAutoFit/>
          </a:bodyPr>
          <a:lstStyle/>
          <a:p>
            <a:pPr algn="ctr">
              <a:lnSpc>
                <a:spcPct val="100000"/>
              </a:lnSpc>
            </a:pPr>
            <a:r>
              <a:rPr sz="2000" b="1" i="0">
                <a:solidFill>
                  <a:srgbClr val="FFFFFF"/>
                </a:solidFill>
                <a:latin typeface="Calibri"/>
              </a:rPr>
              <a:t>BY   [STUDENT NAME]</a:t>
            </a:r>
          </a:p>
        </p:txBody>
      </p:sp>
      <p:sp>
        <p:nvSpPr>
          <p:cNvPr id="17" name="TextBox 16"/>
          <p:cNvSpPr txBox="1"/>
          <p:nvPr/>
        </p:nvSpPr>
        <p:spPr>
          <a:xfrm>
            <a:off x="548640" y="5943600"/>
            <a:ext cx="11094415" cy="292608"/>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(ID)</a:t>
            </a:r>
          </a:p>
        </p:txBody>
      </p:sp>
      <p:sp>
        <p:nvSpPr>
          <p:cNvPr id="18" name="TextBox 17"/>
          <p:cNvSpPr txBox="1"/>
          <p:nvPr/>
        </p:nvSpPr>
        <p:spPr>
          <a:xfrm>
            <a:off x="548640" y="6236208"/>
            <a:ext cx="11094415" cy="274320"/>
          </a:xfrm>
          <a:prstGeom prst="rect">
            <a:avLst/>
          </a:prstGeom>
          <a:noFill/>
        </p:spPr>
        <p:txBody>
          <a:bodyPr wrap="square" anchor="t" lIns="38100" rIns="38100" tIns="12700" bIns="12700">
            <a:spAutoFit/>
          </a:bodyPr>
          <a:lstStyle/>
          <a:p>
            <a:pPr algn="ctr">
              <a:lnSpc>
                <a:spcPct val="100000"/>
              </a:lnSpc>
            </a:pPr>
            <a:r>
              <a:rPr sz="1200" b="0" i="1">
                <a:solidFill>
                  <a:srgbClr val="6B778C"/>
                </a:solidFill>
                <a:latin typeface="Calibri"/>
              </a:rPr>
              <a:t>[MONTH] / [YEAR]</a:t>
            </a:r>
          </a:p>
        </p:txBody>
      </p:sp>
      <p:sp>
        <p:nvSpPr>
          <p:cNvPr id="19" name="Rectangle 18"/>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1" name="TextBox 20"/>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48640"/>
          </a:xfrm>
          <a:prstGeom prst="rect">
            <a:avLst/>
          </a:prstGeom>
          <a:noFill/>
        </p:spPr>
        <p:txBody>
          <a:bodyPr wrap="square" anchor="t" lIns="38100" rIns="38100" tIns="12700" bIns="12700">
            <a:spAutoFit/>
          </a:bodyPr>
          <a:lstStyle/>
          <a:p>
            <a:pPr algn="l">
              <a:lnSpc>
                <a:spcPct val="100000"/>
              </a:lnSpc>
            </a:pPr>
            <a:r>
              <a:rPr sz="3000" b="1" i="0">
                <a:solidFill>
                  <a:srgbClr val="FFFFFF"/>
                </a:solidFill>
                <a:latin typeface="Calibri"/>
              </a:rPr>
              <a:t>DECLARATION</a:t>
            </a:r>
          </a:p>
        </p:txBody>
      </p:sp>
      <p:sp>
        <p:nvSpPr>
          <p:cNvPr id="4" name="Rectangle 3"/>
          <p:cNvSpPr/>
          <p:nvPr/>
        </p:nvSpPr>
        <p:spPr>
          <a:xfrm>
            <a:off x="548640" y="969264"/>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15568"/>
            <a:ext cx="10698480" cy="411480"/>
          </a:xfrm>
          <a:prstGeom prst="rect">
            <a:avLst/>
          </a:prstGeom>
          <a:noFill/>
        </p:spPr>
        <p:txBody>
          <a:bodyPr wrap="square" anchor="t" lIns="38100" rIns="38100" tIns="12700" bIns="12700">
            <a:spAutoFit/>
          </a:bodyPr>
          <a:lstStyle/>
          <a:p>
            <a:pPr algn="l">
              <a:lnSpc>
                <a:spcPct val="125000"/>
              </a:lnSpc>
            </a:pPr>
            <a:r>
              <a:rPr sz="1400" b="0" i="1">
                <a:solidFill>
                  <a:srgbClr val="E2E8F2"/>
                </a:solidFill>
                <a:latin typeface="Calibri"/>
              </a:rPr>
              <a:t>I hereby declare that this thesis is a record of my own work and investigation carried out under the supervision of the Supervisor(s) detailed below.</a:t>
            </a:r>
          </a:p>
        </p:txBody>
      </p:sp>
      <p:sp>
        <p:nvSpPr>
          <p:cNvPr id="6" name="Rounded Rectangle 5"/>
          <p:cNvSpPr/>
          <p:nvPr/>
        </p:nvSpPr>
        <p:spPr>
          <a:xfrm>
            <a:off x="710031" y="1691640"/>
            <a:ext cx="3456432" cy="3703320"/>
          </a:xfrm>
          <a:prstGeom prst="roundRect">
            <a:avLst>
              <a:gd name="adj" fmla="val 4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0031" y="1691640"/>
            <a:ext cx="3456432" cy="73152"/>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1199" y="1911096"/>
            <a:ext cx="3054096" cy="329184"/>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1199" y="1911096"/>
            <a:ext cx="3054096" cy="329184"/>
          </a:xfrm>
          <a:prstGeom prst="rect">
            <a:avLst/>
          </a:prstGeom>
          <a:noFill/>
        </p:spPr>
        <p:txBody>
          <a:bodyPr wrap="square" anchor="ctr" lIns="38100" rIns="38100" tIns="12700" bIns="12700">
            <a:spAutoFit/>
          </a:bodyPr>
          <a:lstStyle/>
          <a:p>
            <a:pPr algn="ctr">
              <a:lnSpc>
                <a:spcPct val="100000"/>
              </a:lnSpc>
            </a:pPr>
            <a:r>
              <a:rPr sz="1100" b="1" i="0">
                <a:solidFill>
                  <a:srgbClr val="0E162A"/>
                </a:solidFill>
                <a:latin typeface="Calibri"/>
              </a:rPr>
              <a:t>STUDENT</a:t>
            </a:r>
          </a:p>
        </p:txBody>
      </p:sp>
      <p:sp>
        <p:nvSpPr>
          <p:cNvPr id="10" name="TextBox 9"/>
          <p:cNvSpPr txBox="1"/>
          <p:nvPr/>
        </p:nvSpPr>
        <p:spPr>
          <a:xfrm>
            <a:off x="929487" y="2350008"/>
            <a:ext cx="3017520" cy="274320"/>
          </a:xfrm>
          <a:prstGeom prst="rect">
            <a:avLst/>
          </a:prstGeom>
          <a:noFill/>
        </p:spPr>
        <p:txBody>
          <a:bodyPr wrap="square" anchor="t" lIns="38100" rIns="38100" tIns="12700" bIns="12700">
            <a:spAutoFit/>
          </a:bodyPr>
          <a:lstStyle/>
          <a:p>
            <a:pPr algn="l">
              <a:lnSpc>
                <a:spcPct val="100000"/>
              </a:lnSpc>
            </a:pPr>
            <a:r>
              <a:rPr sz="1200" b="0" i="1">
                <a:solidFill>
                  <a:srgbClr val="9AA6BC"/>
                </a:solidFill>
                <a:latin typeface="Calibri"/>
              </a:rPr>
              <a:t>BY</a:t>
            </a:r>
          </a:p>
        </p:txBody>
      </p:sp>
      <p:sp>
        <p:nvSpPr>
          <p:cNvPr id="11" name="Rectangle 10"/>
          <p:cNvSpPr/>
          <p:nvPr/>
        </p:nvSpPr>
        <p:spPr>
          <a:xfrm>
            <a:off x="929487" y="2660904"/>
            <a:ext cx="3017520"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9487" y="2734055"/>
            <a:ext cx="3017520" cy="310896"/>
          </a:xfrm>
          <a:prstGeom prst="rect">
            <a:avLst/>
          </a:prstGeom>
          <a:noFill/>
        </p:spPr>
        <p:txBody>
          <a:bodyPr wrap="square" anchor="t" lIns="38100" rIns="38100" tIns="12700" bIns="12700">
            <a:spAutoFit/>
          </a:bodyPr>
          <a:lstStyle/>
          <a:p>
            <a:pPr algn="l">
              <a:lnSpc>
                <a:spcPct val="100000"/>
              </a:lnSpc>
            </a:pPr>
            <a:r>
              <a:rPr sz="1400" b="0" i="0">
                <a:solidFill>
                  <a:srgbClr val="E2E8F2"/>
                </a:solidFill>
                <a:latin typeface="Calibri"/>
              </a:rPr>
              <a:t>Name:  [STUDENT NAME]</a:t>
            </a:r>
          </a:p>
        </p:txBody>
      </p:sp>
      <p:sp>
        <p:nvSpPr>
          <p:cNvPr id="13" name="Rectangle 12"/>
          <p:cNvSpPr/>
          <p:nvPr/>
        </p:nvSpPr>
        <p:spPr>
          <a:xfrm>
            <a:off x="929487" y="3081528"/>
            <a:ext cx="3017520"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9487" y="3154680"/>
            <a:ext cx="3017520" cy="274320"/>
          </a:xfrm>
          <a:prstGeom prst="rect">
            <a:avLst/>
          </a:prstGeom>
          <a:noFill/>
        </p:spPr>
        <p:txBody>
          <a:bodyPr wrap="square" anchor="t" lIns="38100" rIns="38100" tIns="12700" bIns="12700">
            <a:spAutoFit/>
          </a:bodyPr>
          <a:lstStyle/>
          <a:p>
            <a:pPr algn="l">
              <a:lnSpc>
                <a:spcPct val="100000"/>
              </a:lnSpc>
            </a:pPr>
            <a:r>
              <a:rPr sz="1200" b="0" i="0">
                <a:solidFill>
                  <a:srgbClr val="6B778C"/>
                </a:solidFill>
                <a:latin typeface="Calibri"/>
              </a:rPr>
              <a:t>Signature:</a:t>
            </a:r>
          </a:p>
        </p:txBody>
      </p:sp>
      <p:sp>
        <p:nvSpPr>
          <p:cNvPr id="15" name="Rectangle 14"/>
          <p:cNvSpPr/>
          <p:nvPr/>
        </p:nvSpPr>
        <p:spPr>
          <a:xfrm>
            <a:off x="929487" y="3447288"/>
            <a:ext cx="3017520" cy="502920"/>
          </a:xfrm>
          <a:prstGeom prst="rect">
            <a:avLst/>
          </a:prstGeom>
          <a:solidFill>
            <a:srgbClr val="22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4351" y="3520440"/>
            <a:ext cx="2944368" cy="365760"/>
          </a:xfrm>
          <a:prstGeom prst="rect">
            <a:avLst/>
          </a:prstGeom>
          <a:noFill/>
        </p:spPr>
        <p:txBody>
          <a:bodyPr wrap="square" anchor="t" lIns="38100" rIns="38100" tIns="12700" bIns="12700">
            <a:spAutoFit/>
          </a:bodyPr>
          <a:lstStyle/>
          <a:p>
            <a:pPr algn="l">
              <a:lnSpc>
                <a:spcPct val="100000"/>
              </a:lnSpc>
            </a:pPr>
            <a:r>
              <a:rPr sz="1300" b="0" i="0">
                <a:solidFill>
                  <a:srgbClr val="9AA6BC"/>
                </a:solidFill>
                <a:latin typeface="Calibri"/>
              </a:rPr>
              <a:t>____________________</a:t>
            </a:r>
          </a:p>
        </p:txBody>
      </p:sp>
      <p:sp>
        <p:nvSpPr>
          <p:cNvPr id="17" name="TextBox 16"/>
          <p:cNvSpPr txBox="1"/>
          <p:nvPr/>
        </p:nvSpPr>
        <p:spPr>
          <a:xfrm>
            <a:off x="929487" y="4050792"/>
            <a:ext cx="3017520" cy="274320"/>
          </a:xfrm>
          <a:prstGeom prst="rect">
            <a:avLst/>
          </a:prstGeom>
          <a:noFill/>
        </p:spPr>
        <p:txBody>
          <a:bodyPr wrap="square" anchor="t" lIns="38100" rIns="38100" tIns="12700" bIns="12700">
            <a:spAutoFit/>
          </a:bodyPr>
          <a:lstStyle/>
          <a:p>
            <a:pPr algn="l">
              <a:lnSpc>
                <a:spcPct val="100000"/>
              </a:lnSpc>
            </a:pPr>
            <a:r>
              <a:rPr sz="1200" b="0" i="0">
                <a:solidFill>
                  <a:srgbClr val="6B778C"/>
                </a:solidFill>
                <a:latin typeface="Calibri"/>
              </a:rPr>
              <a:t>Date:</a:t>
            </a:r>
          </a:p>
        </p:txBody>
      </p:sp>
      <p:sp>
        <p:nvSpPr>
          <p:cNvPr id="18" name="Rectangle 17"/>
          <p:cNvSpPr/>
          <p:nvPr/>
        </p:nvSpPr>
        <p:spPr>
          <a:xfrm>
            <a:off x="929487" y="4343400"/>
            <a:ext cx="3017520" cy="457200"/>
          </a:xfrm>
          <a:prstGeom prst="rect">
            <a:avLst/>
          </a:prstGeom>
          <a:solidFill>
            <a:srgbClr val="22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4351" y="4416552"/>
            <a:ext cx="2944368" cy="365760"/>
          </a:xfrm>
          <a:prstGeom prst="rect">
            <a:avLst/>
          </a:prstGeom>
          <a:noFill/>
        </p:spPr>
        <p:txBody>
          <a:bodyPr wrap="square" anchor="t" lIns="38100" rIns="38100" tIns="12700" bIns="12700">
            <a:spAutoFit/>
          </a:bodyPr>
          <a:lstStyle/>
          <a:p>
            <a:pPr algn="l">
              <a:lnSpc>
                <a:spcPct val="100000"/>
              </a:lnSpc>
            </a:pPr>
            <a:r>
              <a:rPr sz="1300" b="0" i="0">
                <a:solidFill>
                  <a:srgbClr val="9AA6BC"/>
                </a:solidFill>
                <a:latin typeface="Calibri"/>
              </a:rPr>
              <a:t>_______________</a:t>
            </a:r>
          </a:p>
        </p:txBody>
      </p:sp>
      <p:sp>
        <p:nvSpPr>
          <p:cNvPr id="20" name="TextBox 19"/>
          <p:cNvSpPr txBox="1"/>
          <p:nvPr/>
        </p:nvSpPr>
        <p:spPr>
          <a:xfrm>
            <a:off x="929487" y="4937760"/>
            <a:ext cx="3017520" cy="274320"/>
          </a:xfrm>
          <a:prstGeom prst="rect">
            <a:avLst/>
          </a:prstGeom>
          <a:noFill/>
        </p:spPr>
        <p:txBody>
          <a:bodyPr wrap="square" anchor="t" lIns="38100" rIns="38100" tIns="12700" bIns="12700">
            <a:spAutoFit/>
          </a:bodyPr>
          <a:lstStyle/>
          <a:p>
            <a:pPr algn="l">
              <a:lnSpc>
                <a:spcPct val="100000"/>
              </a:lnSpc>
            </a:pPr>
            <a:r>
              <a:rPr sz="1100" b="0" i="1">
                <a:solidFill>
                  <a:srgbClr val="6B778C"/>
                </a:solidFill>
                <a:latin typeface="Calibri"/>
              </a:rPr>
              <a:t>(ID)</a:t>
            </a:r>
          </a:p>
        </p:txBody>
      </p:sp>
      <p:sp>
        <p:nvSpPr>
          <p:cNvPr id="21" name="Rounded Rectangle 20"/>
          <p:cNvSpPr/>
          <p:nvPr/>
        </p:nvSpPr>
        <p:spPr>
          <a:xfrm>
            <a:off x="4367631" y="1691640"/>
            <a:ext cx="3456432" cy="3703320"/>
          </a:xfrm>
          <a:prstGeom prst="roundRect">
            <a:avLst>
              <a:gd name="adj" fmla="val 4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67631" y="1691640"/>
            <a:ext cx="3456432" cy="73152"/>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68799" y="1911096"/>
            <a:ext cx="3054096" cy="329184"/>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8799" y="1911096"/>
            <a:ext cx="3054096" cy="329184"/>
          </a:xfrm>
          <a:prstGeom prst="rect">
            <a:avLst/>
          </a:prstGeom>
          <a:noFill/>
        </p:spPr>
        <p:txBody>
          <a:bodyPr wrap="square" anchor="ctr" lIns="38100" rIns="38100" tIns="12700" bIns="12700">
            <a:spAutoFit/>
          </a:bodyPr>
          <a:lstStyle/>
          <a:p>
            <a:pPr algn="ctr">
              <a:lnSpc>
                <a:spcPct val="100000"/>
              </a:lnSpc>
            </a:pPr>
            <a:r>
              <a:rPr sz="1100" b="1" i="0">
                <a:solidFill>
                  <a:srgbClr val="0E162A"/>
                </a:solidFill>
                <a:latin typeface="Calibri"/>
              </a:rPr>
              <a:t>SUPERVISOR</a:t>
            </a:r>
          </a:p>
        </p:txBody>
      </p:sp>
      <p:sp>
        <p:nvSpPr>
          <p:cNvPr id="25" name="TextBox 24"/>
          <p:cNvSpPr txBox="1"/>
          <p:nvPr/>
        </p:nvSpPr>
        <p:spPr>
          <a:xfrm>
            <a:off x="4587087" y="2350008"/>
            <a:ext cx="3017520" cy="274320"/>
          </a:xfrm>
          <a:prstGeom prst="rect">
            <a:avLst/>
          </a:prstGeom>
          <a:noFill/>
        </p:spPr>
        <p:txBody>
          <a:bodyPr wrap="square" anchor="t" lIns="38100" rIns="38100" tIns="12700" bIns="12700">
            <a:spAutoFit/>
          </a:bodyPr>
          <a:lstStyle/>
          <a:p>
            <a:pPr algn="l">
              <a:lnSpc>
                <a:spcPct val="100000"/>
              </a:lnSpc>
            </a:pPr>
            <a:r>
              <a:rPr sz="1200" b="0" i="1">
                <a:solidFill>
                  <a:srgbClr val="9AA6BC"/>
                </a:solidFill>
                <a:latin typeface="Calibri"/>
              </a:rPr>
              <a:t>BY</a:t>
            </a:r>
          </a:p>
        </p:txBody>
      </p:sp>
      <p:sp>
        <p:nvSpPr>
          <p:cNvPr id="26" name="Rectangle 25"/>
          <p:cNvSpPr/>
          <p:nvPr/>
        </p:nvSpPr>
        <p:spPr>
          <a:xfrm>
            <a:off x="4587087" y="2660904"/>
            <a:ext cx="3017520"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87087" y="2734055"/>
            <a:ext cx="3017520" cy="310896"/>
          </a:xfrm>
          <a:prstGeom prst="rect">
            <a:avLst/>
          </a:prstGeom>
          <a:noFill/>
        </p:spPr>
        <p:txBody>
          <a:bodyPr wrap="square" anchor="t" lIns="38100" rIns="38100" tIns="12700" bIns="12700">
            <a:spAutoFit/>
          </a:bodyPr>
          <a:lstStyle/>
          <a:p>
            <a:pPr algn="l">
              <a:lnSpc>
                <a:spcPct val="100000"/>
              </a:lnSpc>
            </a:pPr>
            <a:r>
              <a:rPr sz="1400" b="0" i="0">
                <a:solidFill>
                  <a:srgbClr val="E2E8F2"/>
                </a:solidFill>
                <a:latin typeface="Calibri"/>
              </a:rPr>
              <a:t>Name:  [SUPERVISOR NAME]</a:t>
            </a:r>
          </a:p>
        </p:txBody>
      </p:sp>
      <p:sp>
        <p:nvSpPr>
          <p:cNvPr id="28" name="Rectangle 27"/>
          <p:cNvSpPr/>
          <p:nvPr/>
        </p:nvSpPr>
        <p:spPr>
          <a:xfrm>
            <a:off x="4587087" y="3081528"/>
            <a:ext cx="3017520"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87087" y="3154680"/>
            <a:ext cx="3017520" cy="274320"/>
          </a:xfrm>
          <a:prstGeom prst="rect">
            <a:avLst/>
          </a:prstGeom>
          <a:noFill/>
        </p:spPr>
        <p:txBody>
          <a:bodyPr wrap="square" anchor="t" lIns="38100" rIns="38100" tIns="12700" bIns="12700">
            <a:spAutoFit/>
          </a:bodyPr>
          <a:lstStyle/>
          <a:p>
            <a:pPr algn="l">
              <a:lnSpc>
                <a:spcPct val="100000"/>
              </a:lnSpc>
            </a:pPr>
            <a:r>
              <a:rPr sz="1200" b="0" i="0">
                <a:solidFill>
                  <a:srgbClr val="6B778C"/>
                </a:solidFill>
                <a:latin typeface="Calibri"/>
              </a:rPr>
              <a:t>Signature:</a:t>
            </a:r>
          </a:p>
        </p:txBody>
      </p:sp>
      <p:sp>
        <p:nvSpPr>
          <p:cNvPr id="30" name="Rectangle 29"/>
          <p:cNvSpPr/>
          <p:nvPr/>
        </p:nvSpPr>
        <p:spPr>
          <a:xfrm>
            <a:off x="4587087" y="3447288"/>
            <a:ext cx="3017520" cy="502920"/>
          </a:xfrm>
          <a:prstGeom prst="rect">
            <a:avLst/>
          </a:prstGeom>
          <a:solidFill>
            <a:srgbClr val="22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41951" y="3520440"/>
            <a:ext cx="2944368" cy="365760"/>
          </a:xfrm>
          <a:prstGeom prst="rect">
            <a:avLst/>
          </a:prstGeom>
          <a:noFill/>
        </p:spPr>
        <p:txBody>
          <a:bodyPr wrap="square" anchor="t" lIns="38100" rIns="38100" tIns="12700" bIns="12700">
            <a:spAutoFit/>
          </a:bodyPr>
          <a:lstStyle/>
          <a:p>
            <a:pPr algn="l">
              <a:lnSpc>
                <a:spcPct val="100000"/>
              </a:lnSpc>
            </a:pPr>
            <a:r>
              <a:rPr sz="1300" b="0" i="0">
                <a:solidFill>
                  <a:srgbClr val="9AA6BC"/>
                </a:solidFill>
                <a:latin typeface="Calibri"/>
              </a:rPr>
              <a:t>____________________</a:t>
            </a:r>
          </a:p>
        </p:txBody>
      </p:sp>
      <p:sp>
        <p:nvSpPr>
          <p:cNvPr id="32" name="TextBox 31"/>
          <p:cNvSpPr txBox="1"/>
          <p:nvPr/>
        </p:nvSpPr>
        <p:spPr>
          <a:xfrm>
            <a:off x="4587087" y="4050792"/>
            <a:ext cx="3017520" cy="274320"/>
          </a:xfrm>
          <a:prstGeom prst="rect">
            <a:avLst/>
          </a:prstGeom>
          <a:noFill/>
        </p:spPr>
        <p:txBody>
          <a:bodyPr wrap="square" anchor="t" lIns="38100" rIns="38100" tIns="12700" bIns="12700">
            <a:spAutoFit/>
          </a:bodyPr>
          <a:lstStyle/>
          <a:p>
            <a:pPr algn="l">
              <a:lnSpc>
                <a:spcPct val="100000"/>
              </a:lnSpc>
            </a:pPr>
            <a:r>
              <a:rPr sz="1200" b="0" i="0">
                <a:solidFill>
                  <a:srgbClr val="6B778C"/>
                </a:solidFill>
                <a:latin typeface="Calibri"/>
              </a:rPr>
              <a:t>Date:</a:t>
            </a:r>
          </a:p>
        </p:txBody>
      </p:sp>
      <p:sp>
        <p:nvSpPr>
          <p:cNvPr id="33" name="Rectangle 32"/>
          <p:cNvSpPr/>
          <p:nvPr/>
        </p:nvSpPr>
        <p:spPr>
          <a:xfrm>
            <a:off x="4587087" y="4343400"/>
            <a:ext cx="3017520" cy="457200"/>
          </a:xfrm>
          <a:prstGeom prst="rect">
            <a:avLst/>
          </a:prstGeom>
          <a:solidFill>
            <a:srgbClr val="22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1951" y="4416552"/>
            <a:ext cx="2944368" cy="365760"/>
          </a:xfrm>
          <a:prstGeom prst="rect">
            <a:avLst/>
          </a:prstGeom>
          <a:noFill/>
        </p:spPr>
        <p:txBody>
          <a:bodyPr wrap="square" anchor="t" lIns="38100" rIns="38100" tIns="12700" bIns="12700">
            <a:spAutoFit/>
          </a:bodyPr>
          <a:lstStyle/>
          <a:p>
            <a:pPr algn="l">
              <a:lnSpc>
                <a:spcPct val="100000"/>
              </a:lnSpc>
            </a:pPr>
            <a:r>
              <a:rPr sz="1300" b="0" i="0">
                <a:solidFill>
                  <a:srgbClr val="9AA6BC"/>
                </a:solidFill>
                <a:latin typeface="Calibri"/>
              </a:rPr>
              <a:t>_______________</a:t>
            </a:r>
          </a:p>
        </p:txBody>
      </p:sp>
      <p:sp>
        <p:nvSpPr>
          <p:cNvPr id="35" name="TextBox 34"/>
          <p:cNvSpPr txBox="1"/>
          <p:nvPr/>
        </p:nvSpPr>
        <p:spPr>
          <a:xfrm>
            <a:off x="4587087" y="4937760"/>
            <a:ext cx="3017520" cy="274320"/>
          </a:xfrm>
          <a:prstGeom prst="rect">
            <a:avLst/>
          </a:prstGeom>
          <a:noFill/>
        </p:spPr>
        <p:txBody>
          <a:bodyPr wrap="square" anchor="t" lIns="38100" rIns="38100" tIns="12700" bIns="12700">
            <a:spAutoFit/>
          </a:bodyPr>
          <a:lstStyle/>
          <a:p>
            <a:pPr algn="l">
              <a:lnSpc>
                <a:spcPct val="100000"/>
              </a:lnSpc>
            </a:pPr>
            <a:r>
              <a:rPr sz="1100" b="0" i="1">
                <a:solidFill>
                  <a:srgbClr val="6B778C"/>
                </a:solidFill>
                <a:latin typeface="Calibri"/>
              </a:rPr>
              <a:t>(ID)</a:t>
            </a:r>
          </a:p>
        </p:txBody>
      </p:sp>
      <p:sp>
        <p:nvSpPr>
          <p:cNvPr id="36" name="Rounded Rectangle 35"/>
          <p:cNvSpPr/>
          <p:nvPr/>
        </p:nvSpPr>
        <p:spPr>
          <a:xfrm>
            <a:off x="8025231" y="1691640"/>
            <a:ext cx="3456432" cy="3703320"/>
          </a:xfrm>
          <a:prstGeom prst="roundRect">
            <a:avLst>
              <a:gd name="adj" fmla="val 4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25231" y="1691640"/>
            <a:ext cx="3456432" cy="73152"/>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26399" y="1911096"/>
            <a:ext cx="3054096" cy="329184"/>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6399" y="1911096"/>
            <a:ext cx="3054096" cy="329184"/>
          </a:xfrm>
          <a:prstGeom prst="rect">
            <a:avLst/>
          </a:prstGeom>
          <a:noFill/>
        </p:spPr>
        <p:txBody>
          <a:bodyPr wrap="square" anchor="ctr" lIns="38100" rIns="38100" tIns="12700" bIns="12700">
            <a:spAutoFit/>
          </a:bodyPr>
          <a:lstStyle/>
          <a:p>
            <a:pPr algn="ctr">
              <a:lnSpc>
                <a:spcPct val="100000"/>
              </a:lnSpc>
            </a:pPr>
            <a:r>
              <a:rPr sz="1100" b="1" i="0">
                <a:solidFill>
                  <a:srgbClr val="0E162A"/>
                </a:solidFill>
                <a:latin typeface="Calibri"/>
              </a:rPr>
              <a:t>CO-SUPERVISOR</a:t>
            </a:r>
          </a:p>
        </p:txBody>
      </p:sp>
      <p:sp>
        <p:nvSpPr>
          <p:cNvPr id="40" name="TextBox 39"/>
          <p:cNvSpPr txBox="1"/>
          <p:nvPr/>
        </p:nvSpPr>
        <p:spPr>
          <a:xfrm>
            <a:off x="8244687" y="2350008"/>
            <a:ext cx="3017520" cy="274320"/>
          </a:xfrm>
          <a:prstGeom prst="rect">
            <a:avLst/>
          </a:prstGeom>
          <a:noFill/>
        </p:spPr>
        <p:txBody>
          <a:bodyPr wrap="square" anchor="t" lIns="38100" rIns="38100" tIns="12700" bIns="12700">
            <a:spAutoFit/>
          </a:bodyPr>
          <a:lstStyle/>
          <a:p>
            <a:pPr algn="l">
              <a:lnSpc>
                <a:spcPct val="100000"/>
              </a:lnSpc>
            </a:pPr>
            <a:r>
              <a:rPr sz="1200" b="0" i="1">
                <a:solidFill>
                  <a:srgbClr val="9AA6BC"/>
                </a:solidFill>
                <a:latin typeface="Calibri"/>
              </a:rPr>
              <a:t>BY</a:t>
            </a:r>
          </a:p>
        </p:txBody>
      </p:sp>
      <p:sp>
        <p:nvSpPr>
          <p:cNvPr id="41" name="Rectangle 40"/>
          <p:cNvSpPr/>
          <p:nvPr/>
        </p:nvSpPr>
        <p:spPr>
          <a:xfrm>
            <a:off x="8244687" y="2660904"/>
            <a:ext cx="3017520"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4687" y="2734055"/>
            <a:ext cx="3017520" cy="310896"/>
          </a:xfrm>
          <a:prstGeom prst="rect">
            <a:avLst/>
          </a:prstGeom>
          <a:noFill/>
        </p:spPr>
        <p:txBody>
          <a:bodyPr wrap="square" anchor="t" lIns="38100" rIns="38100" tIns="12700" bIns="12700">
            <a:spAutoFit/>
          </a:bodyPr>
          <a:lstStyle/>
          <a:p>
            <a:pPr algn="l">
              <a:lnSpc>
                <a:spcPct val="100000"/>
              </a:lnSpc>
            </a:pPr>
            <a:r>
              <a:rPr sz="1400" b="0" i="0">
                <a:solidFill>
                  <a:srgbClr val="E2E8F2"/>
                </a:solidFill>
                <a:latin typeface="Calibri"/>
              </a:rPr>
              <a:t>Name:  [CO-SUPERVISOR NAME]</a:t>
            </a:r>
          </a:p>
        </p:txBody>
      </p:sp>
      <p:sp>
        <p:nvSpPr>
          <p:cNvPr id="43" name="Rectangle 42"/>
          <p:cNvSpPr/>
          <p:nvPr/>
        </p:nvSpPr>
        <p:spPr>
          <a:xfrm>
            <a:off x="8244687" y="3081528"/>
            <a:ext cx="3017520"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44687" y="3154680"/>
            <a:ext cx="3017520" cy="274320"/>
          </a:xfrm>
          <a:prstGeom prst="rect">
            <a:avLst/>
          </a:prstGeom>
          <a:noFill/>
        </p:spPr>
        <p:txBody>
          <a:bodyPr wrap="square" anchor="t" lIns="38100" rIns="38100" tIns="12700" bIns="12700">
            <a:spAutoFit/>
          </a:bodyPr>
          <a:lstStyle/>
          <a:p>
            <a:pPr algn="l">
              <a:lnSpc>
                <a:spcPct val="100000"/>
              </a:lnSpc>
            </a:pPr>
            <a:r>
              <a:rPr sz="1200" b="0" i="0">
                <a:solidFill>
                  <a:srgbClr val="6B778C"/>
                </a:solidFill>
                <a:latin typeface="Calibri"/>
              </a:rPr>
              <a:t>Signature:</a:t>
            </a:r>
          </a:p>
        </p:txBody>
      </p:sp>
      <p:sp>
        <p:nvSpPr>
          <p:cNvPr id="45" name="Rectangle 44"/>
          <p:cNvSpPr/>
          <p:nvPr/>
        </p:nvSpPr>
        <p:spPr>
          <a:xfrm>
            <a:off x="8244687" y="3447288"/>
            <a:ext cx="3017520" cy="502920"/>
          </a:xfrm>
          <a:prstGeom prst="rect">
            <a:avLst/>
          </a:prstGeom>
          <a:solidFill>
            <a:srgbClr val="22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99551" y="3520440"/>
            <a:ext cx="2944368" cy="365760"/>
          </a:xfrm>
          <a:prstGeom prst="rect">
            <a:avLst/>
          </a:prstGeom>
          <a:noFill/>
        </p:spPr>
        <p:txBody>
          <a:bodyPr wrap="square" anchor="t" lIns="38100" rIns="38100" tIns="12700" bIns="12700">
            <a:spAutoFit/>
          </a:bodyPr>
          <a:lstStyle/>
          <a:p>
            <a:pPr algn="l">
              <a:lnSpc>
                <a:spcPct val="100000"/>
              </a:lnSpc>
            </a:pPr>
            <a:r>
              <a:rPr sz="1300" b="0" i="0">
                <a:solidFill>
                  <a:srgbClr val="9AA6BC"/>
                </a:solidFill>
                <a:latin typeface="Calibri"/>
              </a:rPr>
              <a:t>____________________</a:t>
            </a:r>
          </a:p>
        </p:txBody>
      </p:sp>
      <p:sp>
        <p:nvSpPr>
          <p:cNvPr id="47" name="TextBox 46"/>
          <p:cNvSpPr txBox="1"/>
          <p:nvPr/>
        </p:nvSpPr>
        <p:spPr>
          <a:xfrm>
            <a:off x="8244687" y="4050792"/>
            <a:ext cx="3017520" cy="274320"/>
          </a:xfrm>
          <a:prstGeom prst="rect">
            <a:avLst/>
          </a:prstGeom>
          <a:noFill/>
        </p:spPr>
        <p:txBody>
          <a:bodyPr wrap="square" anchor="t" lIns="38100" rIns="38100" tIns="12700" bIns="12700">
            <a:spAutoFit/>
          </a:bodyPr>
          <a:lstStyle/>
          <a:p>
            <a:pPr algn="l">
              <a:lnSpc>
                <a:spcPct val="100000"/>
              </a:lnSpc>
            </a:pPr>
            <a:r>
              <a:rPr sz="1200" b="0" i="0">
                <a:solidFill>
                  <a:srgbClr val="6B778C"/>
                </a:solidFill>
                <a:latin typeface="Calibri"/>
              </a:rPr>
              <a:t>Date:</a:t>
            </a:r>
          </a:p>
        </p:txBody>
      </p:sp>
      <p:sp>
        <p:nvSpPr>
          <p:cNvPr id="48" name="Rectangle 47"/>
          <p:cNvSpPr/>
          <p:nvPr/>
        </p:nvSpPr>
        <p:spPr>
          <a:xfrm>
            <a:off x="8244687" y="4343400"/>
            <a:ext cx="3017520" cy="457200"/>
          </a:xfrm>
          <a:prstGeom prst="rect">
            <a:avLst/>
          </a:prstGeom>
          <a:solidFill>
            <a:srgbClr val="22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99551" y="4416552"/>
            <a:ext cx="2944368" cy="365760"/>
          </a:xfrm>
          <a:prstGeom prst="rect">
            <a:avLst/>
          </a:prstGeom>
          <a:noFill/>
        </p:spPr>
        <p:txBody>
          <a:bodyPr wrap="square" anchor="t" lIns="38100" rIns="38100" tIns="12700" bIns="12700">
            <a:spAutoFit/>
          </a:bodyPr>
          <a:lstStyle/>
          <a:p>
            <a:pPr algn="l">
              <a:lnSpc>
                <a:spcPct val="100000"/>
              </a:lnSpc>
            </a:pPr>
            <a:r>
              <a:rPr sz="1300" b="0" i="0">
                <a:solidFill>
                  <a:srgbClr val="9AA6BC"/>
                </a:solidFill>
                <a:latin typeface="Calibri"/>
              </a:rPr>
              <a:t>_______________</a:t>
            </a:r>
          </a:p>
        </p:txBody>
      </p:sp>
      <p:sp>
        <p:nvSpPr>
          <p:cNvPr id="50" name="TextBox 49"/>
          <p:cNvSpPr txBox="1"/>
          <p:nvPr/>
        </p:nvSpPr>
        <p:spPr>
          <a:xfrm>
            <a:off x="8244687" y="4937760"/>
            <a:ext cx="3017520" cy="274320"/>
          </a:xfrm>
          <a:prstGeom prst="rect">
            <a:avLst/>
          </a:prstGeom>
          <a:noFill/>
        </p:spPr>
        <p:txBody>
          <a:bodyPr wrap="square" anchor="t" lIns="38100" rIns="38100" tIns="12700" bIns="12700">
            <a:spAutoFit/>
          </a:bodyPr>
          <a:lstStyle/>
          <a:p>
            <a:pPr algn="l">
              <a:lnSpc>
                <a:spcPct val="100000"/>
              </a:lnSpc>
            </a:pPr>
            <a:r>
              <a:rPr sz="1100" b="0" i="1">
                <a:solidFill>
                  <a:srgbClr val="6B778C"/>
                </a:solidFill>
                <a:latin typeface="Calibri"/>
              </a:rPr>
              <a:t>(ID)</a:t>
            </a:r>
          </a:p>
        </p:txBody>
      </p:sp>
      <p:sp>
        <p:nvSpPr>
          <p:cNvPr id="51" name="Rectangle 50"/>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53" name="TextBox 52"/>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800" b="1" i="0">
                <a:solidFill>
                  <a:srgbClr val="FFFFFF"/>
                </a:solidFill>
                <a:latin typeface="Calibri"/>
              </a:rPr>
              <a:t>ABSTRACT</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78992"/>
            <a:ext cx="1005840" cy="786384"/>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78992"/>
            <a:ext cx="1005840" cy="786384"/>
          </a:xfrm>
          <a:prstGeom prst="rect">
            <a:avLst/>
          </a:prstGeom>
          <a:noFill/>
        </p:spPr>
        <p:txBody>
          <a:bodyPr wrap="square" anchor="ctr" lIns="38100" rIns="38100" tIns="12700" bIns="12700">
            <a:spAutoFit/>
          </a:bodyPr>
          <a:lstStyle/>
          <a:p>
            <a:pPr algn="ctr">
              <a:lnSpc>
                <a:spcPct val="100000"/>
              </a:lnSpc>
            </a:pPr>
            <a:r>
              <a:rPr sz="1100" b="1" i="0">
                <a:solidFill>
                  <a:srgbClr val="FFFFFF"/>
                </a:solidFill>
                <a:latin typeface="Calibri"/>
              </a:rPr>
              <a:t>CONTEXT</a:t>
            </a:r>
          </a:p>
        </p:txBody>
      </p:sp>
      <p:sp>
        <p:nvSpPr>
          <p:cNvPr id="7" name="TextBox 6"/>
          <p:cNvSpPr txBox="1"/>
          <p:nvPr/>
        </p:nvSpPr>
        <p:spPr>
          <a:xfrm>
            <a:off x="1691640" y="1115568"/>
            <a:ext cx="9692640" cy="731520"/>
          </a:xfrm>
          <a:prstGeom prst="rect">
            <a:avLst/>
          </a:prstGeom>
          <a:noFill/>
        </p:spPr>
        <p:txBody>
          <a:bodyPr wrap="square" anchor="t" lIns="38100" rIns="38100" tIns="12700" bIns="12700">
            <a:spAutoFit/>
          </a:bodyPr>
          <a:lstStyle/>
          <a:p>
            <a:pPr algn="l">
              <a:lnSpc>
                <a:spcPct val="120000"/>
              </a:lnSpc>
            </a:pPr>
            <a:r>
              <a:rPr sz="1300" b="0" i="0">
                <a:solidFill>
                  <a:srgbClr val="E2E8F2"/>
                </a:solidFill>
                <a:latin typeface="Calibri"/>
              </a:rPr>
              <a:t>Universities generate large volumes of student data — examination scores, attendance records, assignment and continuous-assessment marks, learning-management-system activity and demographics — yet many institutions still identify academically weak students only after poor examination results have occurred, when intervention can no longer prevent failure.</a:t>
            </a:r>
          </a:p>
        </p:txBody>
      </p:sp>
      <p:sp>
        <p:nvSpPr>
          <p:cNvPr id="8" name="Rounded Rectangle 7"/>
          <p:cNvSpPr/>
          <p:nvPr/>
        </p:nvSpPr>
        <p:spPr>
          <a:xfrm>
            <a:off x="548640" y="1901952"/>
            <a:ext cx="1005840" cy="786384"/>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01952"/>
            <a:ext cx="1005840" cy="786384"/>
          </a:xfrm>
          <a:prstGeom prst="rect">
            <a:avLst/>
          </a:prstGeom>
          <a:noFill/>
        </p:spPr>
        <p:txBody>
          <a:bodyPr wrap="square" anchor="ctr" lIns="38100" rIns="38100" tIns="12700" bIns="12700">
            <a:spAutoFit/>
          </a:bodyPr>
          <a:lstStyle/>
          <a:p>
            <a:pPr algn="ctr">
              <a:lnSpc>
                <a:spcPct val="100000"/>
              </a:lnSpc>
            </a:pPr>
            <a:r>
              <a:rPr sz="1100" b="1" i="0">
                <a:solidFill>
                  <a:srgbClr val="FFFFFF"/>
                </a:solidFill>
                <a:latin typeface="Calibri"/>
              </a:rPr>
              <a:t>AIM</a:t>
            </a:r>
          </a:p>
        </p:txBody>
      </p:sp>
      <p:sp>
        <p:nvSpPr>
          <p:cNvPr id="10" name="TextBox 9"/>
          <p:cNvSpPr txBox="1"/>
          <p:nvPr/>
        </p:nvSpPr>
        <p:spPr>
          <a:xfrm>
            <a:off x="1691640" y="1938528"/>
            <a:ext cx="9692640" cy="731520"/>
          </a:xfrm>
          <a:prstGeom prst="rect">
            <a:avLst/>
          </a:prstGeom>
          <a:noFill/>
        </p:spPr>
        <p:txBody>
          <a:bodyPr wrap="square" anchor="t" lIns="38100" rIns="38100" tIns="12700" bIns="12700">
            <a:spAutoFit/>
          </a:bodyPr>
          <a:lstStyle/>
          <a:p>
            <a:pPr algn="l">
              <a:lnSpc>
                <a:spcPct val="120000"/>
              </a:lnSpc>
            </a:pPr>
            <a:r>
              <a:rPr sz="1300" b="0" i="0">
                <a:solidFill>
                  <a:srgbClr val="E2E8F2"/>
                </a:solidFill>
                <a:latin typeface="Calibri"/>
              </a:rPr>
              <a:t>To design and develop an Artificial Intelligence (AI)-based system that predicts university students’ academic performance and assists lecturers and academic advisors in identifying academically at-risk students at an early stage.</a:t>
            </a:r>
          </a:p>
        </p:txBody>
      </p:sp>
      <p:sp>
        <p:nvSpPr>
          <p:cNvPr id="11" name="Rounded Rectangle 10"/>
          <p:cNvSpPr/>
          <p:nvPr/>
        </p:nvSpPr>
        <p:spPr>
          <a:xfrm>
            <a:off x="548640" y="2724912"/>
            <a:ext cx="1005840" cy="786384"/>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24912"/>
            <a:ext cx="1005840" cy="786384"/>
          </a:xfrm>
          <a:prstGeom prst="rect">
            <a:avLst/>
          </a:prstGeom>
          <a:noFill/>
        </p:spPr>
        <p:txBody>
          <a:bodyPr wrap="square" anchor="ctr" lIns="38100" rIns="38100" tIns="12700" bIns="12700">
            <a:spAutoFit/>
          </a:bodyPr>
          <a:lstStyle/>
          <a:p>
            <a:pPr algn="ctr">
              <a:lnSpc>
                <a:spcPct val="100000"/>
              </a:lnSpc>
            </a:pPr>
            <a:r>
              <a:rPr sz="1100" b="1" i="0">
                <a:solidFill>
                  <a:srgbClr val="FFFFFF"/>
                </a:solidFill>
                <a:latin typeface="Calibri"/>
              </a:rPr>
              <a:t>METHOD</a:t>
            </a:r>
          </a:p>
        </p:txBody>
      </p:sp>
      <p:sp>
        <p:nvSpPr>
          <p:cNvPr id="13" name="TextBox 12"/>
          <p:cNvSpPr txBox="1"/>
          <p:nvPr/>
        </p:nvSpPr>
        <p:spPr>
          <a:xfrm>
            <a:off x="1691640" y="2761488"/>
            <a:ext cx="9692640" cy="731520"/>
          </a:xfrm>
          <a:prstGeom prst="rect">
            <a:avLst/>
          </a:prstGeom>
          <a:noFill/>
        </p:spPr>
        <p:txBody>
          <a:bodyPr wrap="square" anchor="t" lIns="38100" rIns="38100" tIns="12700" bIns="12700">
            <a:spAutoFit/>
          </a:bodyPr>
          <a:lstStyle/>
          <a:p>
            <a:pPr algn="l">
              <a:lnSpc>
                <a:spcPct val="120000"/>
              </a:lnSpc>
            </a:pPr>
            <a:r>
              <a:rPr sz="1300" b="0" i="0">
                <a:solidFill>
                  <a:srgbClr val="E2E8F2"/>
                </a:solidFill>
                <a:latin typeface="Calibri"/>
              </a:rPr>
              <a:t>Design and Development research methodology. A 2,550-record mid-semester snapshot was assembled and pre-processed (de-duplication, type coercion, range validation, median/mode imputation) to 2,500 usable records described by 11 features. Five classifiers — Random Forest, Decision Tree, Logistic Regression, Naïve Bayes and SVM — were compared using a stratified 80/20 split and 5-fold stratified cross-validation. The best model was embedded in a production-ready Flask web application with role-based dashboards, a REST API, CSV ingestion, rule-based intervention recommendations and an auditable intervention tracker.</a:t>
            </a:r>
          </a:p>
        </p:txBody>
      </p:sp>
      <p:sp>
        <p:nvSpPr>
          <p:cNvPr id="14" name="Rounded Rectangle 13"/>
          <p:cNvSpPr/>
          <p:nvPr/>
        </p:nvSpPr>
        <p:spPr>
          <a:xfrm>
            <a:off x="548640" y="3547872"/>
            <a:ext cx="1005840" cy="786384"/>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547872"/>
            <a:ext cx="1005840" cy="786384"/>
          </a:xfrm>
          <a:prstGeom prst="rect">
            <a:avLst/>
          </a:prstGeom>
          <a:noFill/>
        </p:spPr>
        <p:txBody>
          <a:bodyPr wrap="square" anchor="ctr" lIns="38100" rIns="38100" tIns="12700" bIns="12700">
            <a:spAutoFit/>
          </a:bodyPr>
          <a:lstStyle/>
          <a:p>
            <a:pPr algn="ctr">
              <a:lnSpc>
                <a:spcPct val="100000"/>
              </a:lnSpc>
            </a:pPr>
            <a:r>
              <a:rPr sz="1100" b="1" i="0">
                <a:solidFill>
                  <a:srgbClr val="FFFFFF"/>
                </a:solidFill>
                <a:latin typeface="Calibri"/>
              </a:rPr>
              <a:t>RESULT</a:t>
            </a:r>
          </a:p>
        </p:txBody>
      </p:sp>
      <p:sp>
        <p:nvSpPr>
          <p:cNvPr id="16" name="TextBox 15"/>
          <p:cNvSpPr txBox="1"/>
          <p:nvPr/>
        </p:nvSpPr>
        <p:spPr>
          <a:xfrm>
            <a:off x="1691640" y="3584448"/>
            <a:ext cx="9692640" cy="731520"/>
          </a:xfrm>
          <a:prstGeom prst="rect">
            <a:avLst/>
          </a:prstGeom>
          <a:noFill/>
        </p:spPr>
        <p:txBody>
          <a:bodyPr wrap="square" anchor="t" lIns="38100" rIns="38100" tIns="12700" bIns="12700">
            <a:spAutoFit/>
          </a:bodyPr>
          <a:lstStyle/>
          <a:p>
            <a:pPr algn="l">
              <a:lnSpc>
                <a:spcPct val="120000"/>
              </a:lnSpc>
            </a:pPr>
            <a:r>
              <a:rPr sz="1300" b="0" i="0">
                <a:solidFill>
                  <a:srgbClr val="E2E8F2"/>
                </a:solidFill>
                <a:latin typeface="Calibri"/>
              </a:rPr>
              <a:t>Random Forest was selected on the strength of the best cross-validated F1 (0.833 ± 0.015) and achieved 83.0% held-out accuracy with weighted precision 0.830, recall 0.830 and F1 0.829; per-class F1 was 0.850 (Low), 0.831 (Medium) and 0.768 (High). Continuous-assessment marks, previous GPA and mid-semester performance were the strongest predictors. The deployed system scored a single student in a mean of 184 ms and 1,000 students in 275 ms, and all 51 automated tests passed.</a:t>
            </a:r>
          </a:p>
        </p:txBody>
      </p:sp>
      <p:sp>
        <p:nvSpPr>
          <p:cNvPr id="17" name="Rounded Rectangle 16"/>
          <p:cNvSpPr/>
          <p:nvPr/>
        </p:nvSpPr>
        <p:spPr>
          <a:xfrm>
            <a:off x="548640" y="4370832"/>
            <a:ext cx="1005840" cy="786384"/>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370832"/>
            <a:ext cx="1005840" cy="786384"/>
          </a:xfrm>
          <a:prstGeom prst="rect">
            <a:avLst/>
          </a:prstGeom>
          <a:noFill/>
        </p:spPr>
        <p:txBody>
          <a:bodyPr wrap="square" anchor="ctr" lIns="38100" rIns="38100" tIns="12700" bIns="12700">
            <a:spAutoFit/>
          </a:bodyPr>
          <a:lstStyle/>
          <a:p>
            <a:pPr algn="ctr">
              <a:lnSpc>
                <a:spcPct val="100000"/>
              </a:lnSpc>
            </a:pPr>
            <a:r>
              <a:rPr sz="1100" b="1" i="0">
                <a:solidFill>
                  <a:srgbClr val="FFFFFF"/>
                </a:solidFill>
                <a:latin typeface="Calibri"/>
              </a:rPr>
              <a:t>CONCLUSION</a:t>
            </a:r>
          </a:p>
        </p:txBody>
      </p:sp>
      <p:sp>
        <p:nvSpPr>
          <p:cNvPr id="19" name="TextBox 18"/>
          <p:cNvSpPr txBox="1"/>
          <p:nvPr/>
        </p:nvSpPr>
        <p:spPr>
          <a:xfrm>
            <a:off x="1691640" y="4407408"/>
            <a:ext cx="9692640" cy="731520"/>
          </a:xfrm>
          <a:prstGeom prst="rect">
            <a:avLst/>
          </a:prstGeom>
          <a:noFill/>
        </p:spPr>
        <p:txBody>
          <a:bodyPr wrap="square" anchor="t" lIns="38100" rIns="38100" tIns="12700" bIns="12700">
            <a:spAutoFit/>
          </a:bodyPr>
          <a:lstStyle/>
          <a:p>
            <a:pPr algn="l">
              <a:lnSpc>
                <a:spcPct val="120000"/>
              </a:lnSpc>
            </a:pPr>
            <a:r>
              <a:rPr sz="1300" b="0" i="0">
                <a:solidFill>
                  <a:srgbClr val="E2E8F2"/>
                </a:solidFill>
                <a:latin typeface="Calibri"/>
              </a:rPr>
              <a:t>AI-driven early-warning prediction is feasible, accurate and actionable within a university setting: the system converts routine mid-semester records into prioritised risk alerts and concrete intervention recommendations, enabling support before final examinations rather than after failure. Its accuracy depends on data quality, so it is designed as decision support for lecturers and advisors rather than a replacement for professional judgement.</a:t>
            </a:r>
          </a:p>
        </p:txBody>
      </p:sp>
      <p:sp>
        <p:nvSpPr>
          <p:cNvPr id="20" name="Rounded Rectangle 19"/>
          <p:cNvSpPr/>
          <p:nvPr/>
        </p:nvSpPr>
        <p:spPr>
          <a:xfrm>
            <a:off x="548640" y="5212080"/>
            <a:ext cx="11091672" cy="457200"/>
          </a:xfrm>
          <a:prstGeom prst="roundRect">
            <a:avLst>
              <a:gd name="adj" fmla="val 6000"/>
            </a:avLst>
          </a:prstGeom>
          <a:solidFill>
            <a:srgbClr val="1E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212080"/>
            <a:ext cx="64008" cy="457200"/>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212080"/>
            <a:ext cx="1097280" cy="457200"/>
          </a:xfrm>
          <a:prstGeom prst="rect">
            <a:avLst/>
          </a:prstGeom>
          <a:noFill/>
        </p:spPr>
        <p:txBody>
          <a:bodyPr wrap="square" anchor="ctr" lIns="38100" rIns="38100" tIns="12700" bIns="12700">
            <a:spAutoFit/>
          </a:bodyPr>
          <a:lstStyle/>
          <a:p>
            <a:pPr algn="l">
              <a:lnSpc>
                <a:spcPct val="100000"/>
              </a:lnSpc>
            </a:pPr>
            <a:r>
              <a:rPr sz="1200" b="1" i="0">
                <a:solidFill>
                  <a:srgbClr val="E8B13A"/>
                </a:solidFill>
                <a:latin typeface="Calibri"/>
              </a:rPr>
              <a:t>KEYWORDS</a:t>
            </a:r>
          </a:p>
        </p:txBody>
      </p:sp>
      <p:sp>
        <p:nvSpPr>
          <p:cNvPr id="23" name="TextBox 22"/>
          <p:cNvSpPr txBox="1"/>
          <p:nvPr/>
        </p:nvSpPr>
        <p:spPr>
          <a:xfrm>
            <a:off x="1874519" y="5212080"/>
            <a:ext cx="9601200" cy="457200"/>
          </a:xfrm>
          <a:prstGeom prst="rect">
            <a:avLst/>
          </a:prstGeom>
          <a:noFill/>
        </p:spPr>
        <p:txBody>
          <a:bodyPr wrap="square" anchor="ctr" lIns="38100" rIns="38100" tIns="12700" bIns="12700">
            <a:spAutoFit/>
          </a:bodyPr>
          <a:lstStyle/>
          <a:p>
            <a:pPr algn="l">
              <a:lnSpc>
                <a:spcPct val="110000"/>
              </a:lnSpc>
            </a:pPr>
            <a:r>
              <a:rPr sz="1200" b="0" i="0">
                <a:solidFill>
                  <a:srgbClr val="E2E8F2"/>
                </a:solidFill>
                <a:latin typeface="Calibri"/>
              </a:rPr>
              <a:t>student performance prediction; educational data mining; early-warning system; machine learning; academic risk; Random Forest</a:t>
            </a:r>
          </a:p>
        </p:txBody>
      </p:sp>
      <p:sp>
        <p:nvSpPr>
          <p:cNvPr id="24" name="Rectangle 23"/>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6" name="TextBox 25"/>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800" b="1" i="0">
                <a:solidFill>
                  <a:srgbClr val="FFFFFF"/>
                </a:solidFill>
                <a:latin typeface="Calibri"/>
              </a:rPr>
              <a:t>DEDICATION</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6647" y="1874519"/>
            <a:ext cx="10058400" cy="2148840"/>
          </a:xfrm>
          <a:prstGeom prst="roundRect">
            <a:avLst>
              <a:gd name="adj" fmla="val 3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6647" y="1874519"/>
            <a:ext cx="10058400" cy="64008"/>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23847" y="2194560"/>
            <a:ext cx="9144000" cy="1737360"/>
          </a:xfrm>
          <a:prstGeom prst="rect">
            <a:avLst/>
          </a:prstGeom>
          <a:noFill/>
        </p:spPr>
        <p:txBody>
          <a:bodyPr wrap="square" anchor="t" lIns="38100" rIns="38100" tIns="12700" bIns="12700">
            <a:spAutoFit/>
          </a:bodyPr>
          <a:lstStyle/>
          <a:p>
            <a:pPr algn="ctr">
              <a:lnSpc>
                <a:spcPct val="150000"/>
              </a:lnSpc>
            </a:pPr>
            <a:r>
              <a:rPr sz="2000" b="0" i="1">
                <a:solidFill>
                  <a:srgbClr val="E2E8F2"/>
                </a:solidFill>
                <a:latin typeface="Calibri"/>
              </a:rPr>
              <a:t>“To my loving parents, my family, and everyone who supported me through this academic journey — thank you for your prayers, your patience, and your unwavering belief in my ability to finish what I started.”</a:t>
            </a:r>
          </a:p>
        </p:txBody>
      </p:sp>
      <p:sp>
        <p:nvSpPr>
          <p:cNvPr id="8" name="TextBox 7"/>
          <p:cNvSpPr txBox="1"/>
          <p:nvPr/>
        </p:nvSpPr>
        <p:spPr>
          <a:xfrm>
            <a:off x="548640" y="5074920"/>
            <a:ext cx="11094415" cy="411480"/>
          </a:xfrm>
          <a:prstGeom prst="rect">
            <a:avLst/>
          </a:prstGeom>
          <a:noFill/>
        </p:spPr>
        <p:txBody>
          <a:bodyPr wrap="square" anchor="t" lIns="38100" rIns="38100" tIns="12700" bIns="12700">
            <a:spAutoFit/>
          </a:bodyPr>
          <a:lstStyle/>
          <a:p>
            <a:pPr algn="ctr">
              <a:lnSpc>
                <a:spcPct val="100000"/>
              </a:lnSpc>
            </a:pPr>
            <a:r>
              <a:rPr sz="1600" b="1" i="0">
                <a:solidFill>
                  <a:srgbClr val="FFFFFF"/>
                </a:solidFill>
                <a:latin typeface="Calibri"/>
              </a:rPr>
              <a:t>[STUDENT NAME]</a:t>
            </a:r>
          </a:p>
        </p:txBody>
      </p:sp>
      <p:sp>
        <p:nvSpPr>
          <p:cNvPr id="9" name="Rectangle 8"/>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11" name="TextBox 10"/>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700" b="1" i="0">
                <a:solidFill>
                  <a:srgbClr val="FFFFFF"/>
                </a:solidFill>
                <a:latin typeface="Calibri"/>
              </a:rPr>
              <a:t>ACKNOWLEDGEMENT</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nchor="t" lIns="38100" rIns="38100" tIns="12700" bIns="12700">
            <a:spAutoFit/>
          </a:bodyPr>
          <a:lstStyle/>
          <a:p>
            <a:pPr algn="l">
              <a:lnSpc>
                <a:spcPct val="100000"/>
              </a:lnSpc>
            </a:pPr>
            <a:r>
              <a:rPr sz="1500" b="0" i="1">
                <a:solidFill>
                  <a:srgbClr val="E2E8F2"/>
                </a:solidFill>
                <a:latin typeface="Calibri"/>
              </a:rPr>
              <a:t>I wish to express my sincere gratitude to the following:</a:t>
            </a:r>
          </a:p>
        </p:txBody>
      </p:sp>
      <p:sp>
        <p:nvSpPr>
          <p:cNvPr id="6" name="TextBox 5"/>
          <p:cNvSpPr txBox="1"/>
          <p:nvPr/>
        </p:nvSpPr>
        <p:spPr>
          <a:xfrm>
            <a:off x="914400" y="1600200"/>
            <a:ext cx="10332720" cy="3840480"/>
          </a:xfrm>
          <a:prstGeom prst="rect">
            <a:avLst/>
          </a:prstGeom>
          <a:noFill/>
        </p:spPr>
        <p:txBody>
          <a:bodyPr wrap="square" anchor="t" lIns="50800" rIns="50800" tIns="25400" bIns="25400">
            <a:spAutoFit/>
          </a:bodyPr>
          <a:lstStyle/>
          <a:p>
            <a:pPr algn="l">
              <a:lnSpc>
                <a:spcPct val="150000"/>
              </a:lnSpc>
              <a:spcBef>
                <a:spcPts val="0"/>
              </a:spcBef>
              <a:spcAft>
                <a:spcPts val="1400"/>
              </a:spcAft>
            </a:pPr>
            <a:r>
              <a:rPr sz="1500">
                <a:solidFill>
                  <a:srgbClr val="FFFFFF"/>
                </a:solidFill>
                <a:latin typeface="Calibri"/>
              </a:rPr>
              <a:t>My supervisor(s), for their expert guidance, patience, and constructive criticism throughout this research work.</a:t>
            </a:r>
          </a:p>
          <a:p>
            <a:pPr algn="l">
              <a:lnSpc>
                <a:spcPct val="150000"/>
              </a:lnSpc>
              <a:spcBef>
                <a:spcPts val="0"/>
              </a:spcBef>
              <a:spcAft>
                <a:spcPts val="1400"/>
              </a:spcAft>
            </a:pPr>
            <a:r>
              <a:rPr sz="1500">
                <a:solidFill>
                  <a:srgbClr val="FFFFFF"/>
                </a:solidFill>
                <a:latin typeface="Calibri"/>
              </a:rPr>
              <a:t>The Department of Computer Science, University of Ghana, for providing the academic environment and resources that made this work possible.</a:t>
            </a:r>
          </a:p>
          <a:p>
            <a:pPr algn="l">
              <a:lnSpc>
                <a:spcPct val="150000"/>
              </a:lnSpc>
              <a:spcBef>
                <a:spcPts val="0"/>
              </a:spcBef>
              <a:spcAft>
                <a:spcPts val="1400"/>
              </a:spcAft>
            </a:pPr>
            <a:r>
              <a:rPr sz="1500">
                <a:solidFill>
                  <a:srgbClr val="FFFFFF"/>
                </a:solidFill>
                <a:latin typeface="Calibri"/>
              </a:rPr>
              <a:t>My parents, siblings, and friends, for their love, prayers, and encouragement.</a:t>
            </a:r>
          </a:p>
          <a:p>
            <a:pPr algn="l">
              <a:lnSpc>
                <a:spcPct val="150000"/>
              </a:lnSpc>
              <a:spcBef>
                <a:spcPts val="0"/>
              </a:spcBef>
              <a:spcAft>
                <a:spcPts val="1400"/>
              </a:spcAft>
            </a:pPr>
            <a:r>
              <a:rPr sz="1500">
                <a:solidFill>
                  <a:srgbClr val="FFFFFF"/>
                </a:solidFill>
                <a:latin typeface="Calibri"/>
              </a:rPr>
              <a:t>Everyone who in one way or the other contributed to the success of this project.</a:t>
            </a:r>
          </a:p>
        </p:txBody>
      </p:sp>
      <p:sp>
        <p:nvSpPr>
          <p:cNvPr id="7" name="TextBox 6"/>
          <p:cNvSpPr txBox="1"/>
          <p:nvPr/>
        </p:nvSpPr>
        <p:spPr>
          <a:xfrm>
            <a:off x="548640" y="5943600"/>
            <a:ext cx="10789920" cy="365760"/>
          </a:xfrm>
          <a:prstGeom prst="rect">
            <a:avLst/>
          </a:prstGeom>
          <a:noFill/>
        </p:spPr>
        <p:txBody>
          <a:bodyPr wrap="square" anchor="t" lIns="38100" rIns="38100" tIns="12700" bIns="12700">
            <a:spAutoFit/>
          </a:bodyPr>
          <a:lstStyle/>
          <a:p>
            <a:pPr algn="r">
              <a:lnSpc>
                <a:spcPct val="100000"/>
              </a:lnSpc>
            </a:pPr>
            <a:r>
              <a:rPr sz="1500" b="1" i="0">
                <a:solidFill>
                  <a:srgbClr val="FFFFFF"/>
                </a:solidFill>
                <a:latin typeface="Calibri"/>
              </a:rPr>
              <a:t>[STUDENT NAME]</a:t>
            </a:r>
          </a:p>
        </p:txBody>
      </p:sp>
      <p:sp>
        <p:nvSpPr>
          <p:cNvPr id="8" name="Rectangle 7"/>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10" name="TextBox 9"/>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500" b="1" i="0">
                <a:solidFill>
                  <a:srgbClr val="FFFFFF"/>
                </a:solidFill>
                <a:latin typeface="Calibri"/>
              </a:rPr>
              <a:t>TABLE OF CONTENTS</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DECLARATION</a:t>
            </a:r>
          </a:p>
        </p:txBody>
      </p:sp>
      <p:sp>
        <p:nvSpPr>
          <p:cNvPr id="6" name="TextBox 5"/>
          <p:cNvSpPr txBox="1"/>
          <p:nvPr/>
        </p:nvSpPr>
        <p:spPr>
          <a:xfrm>
            <a:off x="5029200" y="1097280"/>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i</a:t>
            </a:r>
          </a:p>
        </p:txBody>
      </p:sp>
      <p:sp>
        <p:nvSpPr>
          <p:cNvPr id="7" name="Rectangle 6"/>
          <p:cNvSpPr/>
          <p:nvPr/>
        </p:nvSpPr>
        <p:spPr>
          <a:xfrm>
            <a:off x="640080" y="1362456"/>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89888"/>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ABSTRACT</a:t>
            </a:r>
          </a:p>
        </p:txBody>
      </p:sp>
      <p:sp>
        <p:nvSpPr>
          <p:cNvPr id="9" name="TextBox 8"/>
          <p:cNvSpPr txBox="1"/>
          <p:nvPr/>
        </p:nvSpPr>
        <p:spPr>
          <a:xfrm>
            <a:off x="5029200" y="1389888"/>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ii</a:t>
            </a:r>
          </a:p>
        </p:txBody>
      </p:sp>
      <p:sp>
        <p:nvSpPr>
          <p:cNvPr id="10" name="Rectangle 9"/>
          <p:cNvSpPr/>
          <p:nvPr/>
        </p:nvSpPr>
        <p:spPr>
          <a:xfrm>
            <a:off x="640080" y="1655064"/>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82496"/>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DEDICATION</a:t>
            </a:r>
          </a:p>
        </p:txBody>
      </p:sp>
      <p:sp>
        <p:nvSpPr>
          <p:cNvPr id="12" name="TextBox 11"/>
          <p:cNvSpPr txBox="1"/>
          <p:nvPr/>
        </p:nvSpPr>
        <p:spPr>
          <a:xfrm>
            <a:off x="5029200" y="1682496"/>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iii</a:t>
            </a:r>
          </a:p>
        </p:txBody>
      </p:sp>
      <p:sp>
        <p:nvSpPr>
          <p:cNvPr id="13" name="Rectangle 12"/>
          <p:cNvSpPr/>
          <p:nvPr/>
        </p:nvSpPr>
        <p:spPr>
          <a:xfrm>
            <a:off x="640080" y="1947672"/>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975104"/>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ACKNOWLEDGEMENT</a:t>
            </a:r>
          </a:p>
        </p:txBody>
      </p:sp>
      <p:sp>
        <p:nvSpPr>
          <p:cNvPr id="15" name="TextBox 14"/>
          <p:cNvSpPr txBox="1"/>
          <p:nvPr/>
        </p:nvSpPr>
        <p:spPr>
          <a:xfrm>
            <a:off x="5029200" y="1975104"/>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iv</a:t>
            </a:r>
          </a:p>
        </p:txBody>
      </p:sp>
      <p:sp>
        <p:nvSpPr>
          <p:cNvPr id="16" name="Rectangle 15"/>
          <p:cNvSpPr/>
          <p:nvPr/>
        </p:nvSpPr>
        <p:spPr>
          <a:xfrm>
            <a:off x="640080" y="2240280"/>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267712"/>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TABLE OF CONTENTS</a:t>
            </a:r>
          </a:p>
        </p:txBody>
      </p:sp>
      <p:sp>
        <p:nvSpPr>
          <p:cNvPr id="18" name="TextBox 17"/>
          <p:cNvSpPr txBox="1"/>
          <p:nvPr/>
        </p:nvSpPr>
        <p:spPr>
          <a:xfrm>
            <a:off x="5029200" y="2267712"/>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v</a:t>
            </a:r>
          </a:p>
        </p:txBody>
      </p:sp>
      <p:sp>
        <p:nvSpPr>
          <p:cNvPr id="19" name="Rectangle 18"/>
          <p:cNvSpPr/>
          <p:nvPr/>
        </p:nvSpPr>
        <p:spPr>
          <a:xfrm>
            <a:off x="640080" y="2532888"/>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560320"/>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LIST OF FIGURES</a:t>
            </a:r>
          </a:p>
        </p:txBody>
      </p:sp>
      <p:sp>
        <p:nvSpPr>
          <p:cNvPr id="21" name="TextBox 20"/>
          <p:cNvSpPr txBox="1"/>
          <p:nvPr/>
        </p:nvSpPr>
        <p:spPr>
          <a:xfrm>
            <a:off x="5029200" y="2560320"/>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vi</a:t>
            </a:r>
          </a:p>
        </p:txBody>
      </p:sp>
      <p:sp>
        <p:nvSpPr>
          <p:cNvPr id="22" name="Rectangle 21"/>
          <p:cNvSpPr/>
          <p:nvPr/>
        </p:nvSpPr>
        <p:spPr>
          <a:xfrm>
            <a:off x="640080" y="2825496"/>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852928"/>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LIST OF TABLES</a:t>
            </a:r>
          </a:p>
        </p:txBody>
      </p:sp>
      <p:sp>
        <p:nvSpPr>
          <p:cNvPr id="24" name="TextBox 23"/>
          <p:cNvSpPr txBox="1"/>
          <p:nvPr/>
        </p:nvSpPr>
        <p:spPr>
          <a:xfrm>
            <a:off x="5029200" y="2852928"/>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vii</a:t>
            </a:r>
          </a:p>
        </p:txBody>
      </p:sp>
      <p:sp>
        <p:nvSpPr>
          <p:cNvPr id="25" name="Rectangle 24"/>
          <p:cNvSpPr/>
          <p:nvPr/>
        </p:nvSpPr>
        <p:spPr>
          <a:xfrm>
            <a:off x="640080" y="3118104"/>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145536"/>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LIST OF ABBREVIATIONS</a:t>
            </a:r>
          </a:p>
        </p:txBody>
      </p:sp>
      <p:sp>
        <p:nvSpPr>
          <p:cNvPr id="27" name="TextBox 26"/>
          <p:cNvSpPr txBox="1"/>
          <p:nvPr/>
        </p:nvSpPr>
        <p:spPr>
          <a:xfrm>
            <a:off x="5029200" y="3145536"/>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viii</a:t>
            </a:r>
          </a:p>
        </p:txBody>
      </p:sp>
      <p:sp>
        <p:nvSpPr>
          <p:cNvPr id="28" name="Rectangle 27"/>
          <p:cNvSpPr/>
          <p:nvPr/>
        </p:nvSpPr>
        <p:spPr>
          <a:xfrm>
            <a:off x="640080" y="3410712"/>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438144"/>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CHAPTER ONE  —  INTRODUCTION</a:t>
            </a:r>
          </a:p>
        </p:txBody>
      </p:sp>
      <p:sp>
        <p:nvSpPr>
          <p:cNvPr id="30" name="TextBox 29"/>
          <p:cNvSpPr txBox="1"/>
          <p:nvPr/>
        </p:nvSpPr>
        <p:spPr>
          <a:xfrm>
            <a:off x="5029200" y="3438144"/>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1</a:t>
            </a:r>
          </a:p>
        </p:txBody>
      </p:sp>
      <p:sp>
        <p:nvSpPr>
          <p:cNvPr id="31" name="Rectangle 30"/>
          <p:cNvSpPr/>
          <p:nvPr/>
        </p:nvSpPr>
        <p:spPr>
          <a:xfrm>
            <a:off x="640080" y="3703320"/>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730752"/>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1.1 Background and Motivation</a:t>
            </a:r>
          </a:p>
        </p:txBody>
      </p:sp>
      <p:sp>
        <p:nvSpPr>
          <p:cNvPr id="33" name="TextBox 32"/>
          <p:cNvSpPr txBox="1"/>
          <p:nvPr/>
        </p:nvSpPr>
        <p:spPr>
          <a:xfrm>
            <a:off x="5029200" y="3730752"/>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1</a:t>
            </a:r>
          </a:p>
        </p:txBody>
      </p:sp>
      <p:sp>
        <p:nvSpPr>
          <p:cNvPr id="34" name="Rectangle 33"/>
          <p:cNvSpPr/>
          <p:nvPr/>
        </p:nvSpPr>
        <p:spPr>
          <a:xfrm>
            <a:off x="640080" y="3995928"/>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023360"/>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1.2 Statement of the Problem</a:t>
            </a:r>
          </a:p>
        </p:txBody>
      </p:sp>
      <p:sp>
        <p:nvSpPr>
          <p:cNvPr id="36" name="TextBox 35"/>
          <p:cNvSpPr txBox="1"/>
          <p:nvPr/>
        </p:nvSpPr>
        <p:spPr>
          <a:xfrm>
            <a:off x="5029200" y="4023360"/>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1</a:t>
            </a:r>
          </a:p>
        </p:txBody>
      </p:sp>
      <p:sp>
        <p:nvSpPr>
          <p:cNvPr id="37" name="Rectangle 36"/>
          <p:cNvSpPr/>
          <p:nvPr/>
        </p:nvSpPr>
        <p:spPr>
          <a:xfrm>
            <a:off x="640080" y="4288536"/>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315968"/>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1.3 Scope of the Study</a:t>
            </a:r>
          </a:p>
        </p:txBody>
      </p:sp>
      <p:sp>
        <p:nvSpPr>
          <p:cNvPr id="39" name="TextBox 38"/>
          <p:cNvSpPr txBox="1"/>
          <p:nvPr/>
        </p:nvSpPr>
        <p:spPr>
          <a:xfrm>
            <a:off x="5029200" y="4315968"/>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1</a:t>
            </a:r>
          </a:p>
        </p:txBody>
      </p:sp>
      <p:sp>
        <p:nvSpPr>
          <p:cNvPr id="40" name="Rectangle 39"/>
          <p:cNvSpPr/>
          <p:nvPr/>
        </p:nvSpPr>
        <p:spPr>
          <a:xfrm>
            <a:off x="640080" y="4581144"/>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1097280"/>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1.4 Research Objectives</a:t>
            </a:r>
          </a:p>
        </p:txBody>
      </p:sp>
      <p:sp>
        <p:nvSpPr>
          <p:cNvPr id="42" name="TextBox 41"/>
          <p:cNvSpPr txBox="1"/>
          <p:nvPr/>
        </p:nvSpPr>
        <p:spPr>
          <a:xfrm>
            <a:off x="10652760" y="1097280"/>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1</a:t>
            </a:r>
          </a:p>
        </p:txBody>
      </p:sp>
      <p:sp>
        <p:nvSpPr>
          <p:cNvPr id="43" name="Rectangle 42"/>
          <p:cNvSpPr/>
          <p:nvPr/>
        </p:nvSpPr>
        <p:spPr>
          <a:xfrm>
            <a:off x="6263640" y="1362456"/>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1389888"/>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1.5 Research Contribution</a:t>
            </a:r>
          </a:p>
        </p:txBody>
      </p:sp>
      <p:sp>
        <p:nvSpPr>
          <p:cNvPr id="45" name="TextBox 44"/>
          <p:cNvSpPr txBox="1"/>
          <p:nvPr/>
        </p:nvSpPr>
        <p:spPr>
          <a:xfrm>
            <a:off x="10652760" y="1389888"/>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1</a:t>
            </a:r>
          </a:p>
        </p:txBody>
      </p:sp>
      <p:sp>
        <p:nvSpPr>
          <p:cNvPr id="46" name="Rectangle 45"/>
          <p:cNvSpPr/>
          <p:nvPr/>
        </p:nvSpPr>
        <p:spPr>
          <a:xfrm>
            <a:off x="6263640" y="1655064"/>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63640" y="1682496"/>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1.6 Organization of the Study</a:t>
            </a:r>
          </a:p>
        </p:txBody>
      </p:sp>
      <p:sp>
        <p:nvSpPr>
          <p:cNvPr id="48" name="TextBox 47"/>
          <p:cNvSpPr txBox="1"/>
          <p:nvPr/>
        </p:nvSpPr>
        <p:spPr>
          <a:xfrm>
            <a:off x="10652760" y="1682496"/>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1</a:t>
            </a:r>
          </a:p>
        </p:txBody>
      </p:sp>
      <p:sp>
        <p:nvSpPr>
          <p:cNvPr id="49" name="Rectangle 48"/>
          <p:cNvSpPr/>
          <p:nvPr/>
        </p:nvSpPr>
        <p:spPr>
          <a:xfrm>
            <a:off x="6263640" y="1947672"/>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63640" y="1975104"/>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CHAPTER TWO  —  LITERATURE REVIEW</a:t>
            </a:r>
          </a:p>
        </p:txBody>
      </p:sp>
      <p:sp>
        <p:nvSpPr>
          <p:cNvPr id="51" name="TextBox 50"/>
          <p:cNvSpPr txBox="1"/>
          <p:nvPr/>
        </p:nvSpPr>
        <p:spPr>
          <a:xfrm>
            <a:off x="10652760" y="1975104"/>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2</a:t>
            </a:r>
          </a:p>
        </p:txBody>
      </p:sp>
      <p:sp>
        <p:nvSpPr>
          <p:cNvPr id="52" name="Rectangle 51"/>
          <p:cNvSpPr/>
          <p:nvPr/>
        </p:nvSpPr>
        <p:spPr>
          <a:xfrm>
            <a:off x="6263640" y="2240280"/>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63640" y="2267712"/>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2.1 Introduction</a:t>
            </a:r>
          </a:p>
        </p:txBody>
      </p:sp>
      <p:sp>
        <p:nvSpPr>
          <p:cNvPr id="54" name="TextBox 53"/>
          <p:cNvSpPr txBox="1"/>
          <p:nvPr/>
        </p:nvSpPr>
        <p:spPr>
          <a:xfrm>
            <a:off x="10652760" y="2267712"/>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2</a:t>
            </a:r>
          </a:p>
        </p:txBody>
      </p:sp>
      <p:sp>
        <p:nvSpPr>
          <p:cNvPr id="55" name="Rectangle 54"/>
          <p:cNvSpPr/>
          <p:nvPr/>
        </p:nvSpPr>
        <p:spPr>
          <a:xfrm>
            <a:off x="6263640" y="2532888"/>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63640" y="2560320"/>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CHAPTER THREE  —  RESEARCH METHODOLOGY</a:t>
            </a:r>
          </a:p>
        </p:txBody>
      </p:sp>
      <p:sp>
        <p:nvSpPr>
          <p:cNvPr id="57" name="TextBox 56"/>
          <p:cNvSpPr txBox="1"/>
          <p:nvPr/>
        </p:nvSpPr>
        <p:spPr>
          <a:xfrm>
            <a:off x="10652760" y="2560320"/>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3</a:t>
            </a:r>
          </a:p>
        </p:txBody>
      </p:sp>
      <p:sp>
        <p:nvSpPr>
          <p:cNvPr id="58" name="Rectangle 57"/>
          <p:cNvSpPr/>
          <p:nvPr/>
        </p:nvSpPr>
        <p:spPr>
          <a:xfrm>
            <a:off x="6263640" y="2825496"/>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63640" y="2852928"/>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CHAPTER FOUR  —  EXPERIMENTAL RESULTS AND DISCUSSIONS</a:t>
            </a:r>
          </a:p>
        </p:txBody>
      </p:sp>
      <p:sp>
        <p:nvSpPr>
          <p:cNvPr id="60" name="TextBox 59"/>
          <p:cNvSpPr txBox="1"/>
          <p:nvPr/>
        </p:nvSpPr>
        <p:spPr>
          <a:xfrm>
            <a:off x="10652760" y="2852928"/>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4</a:t>
            </a:r>
          </a:p>
        </p:txBody>
      </p:sp>
      <p:sp>
        <p:nvSpPr>
          <p:cNvPr id="61" name="Rectangle 60"/>
          <p:cNvSpPr/>
          <p:nvPr/>
        </p:nvSpPr>
        <p:spPr>
          <a:xfrm>
            <a:off x="6263640" y="3118104"/>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63640" y="3145536"/>
            <a:ext cx="5212080" cy="256032"/>
          </a:xfrm>
          <a:prstGeom prst="rect">
            <a:avLst/>
          </a:prstGeom>
          <a:noFill/>
        </p:spPr>
        <p:txBody>
          <a:bodyPr wrap="square" anchor="t" lIns="38100" rIns="38100" tIns="12700" bIns="12700">
            <a:spAutoFit/>
          </a:bodyPr>
          <a:lstStyle/>
          <a:p>
            <a:pPr algn="l">
              <a:lnSpc>
                <a:spcPct val="100000"/>
              </a:lnSpc>
            </a:pPr>
            <a:r>
              <a:rPr sz="1200" b="0" i="0">
                <a:solidFill>
                  <a:srgbClr val="9AA6BC"/>
                </a:solidFill>
                <a:latin typeface="Calibri"/>
              </a:rPr>
              <a:t>CHAPTER FIVE  —  CONCLUDING REMARKS</a:t>
            </a:r>
          </a:p>
        </p:txBody>
      </p:sp>
      <p:sp>
        <p:nvSpPr>
          <p:cNvPr id="63" name="TextBox 62"/>
          <p:cNvSpPr txBox="1"/>
          <p:nvPr/>
        </p:nvSpPr>
        <p:spPr>
          <a:xfrm>
            <a:off x="10652760" y="3145536"/>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5</a:t>
            </a:r>
          </a:p>
        </p:txBody>
      </p:sp>
      <p:sp>
        <p:nvSpPr>
          <p:cNvPr id="64" name="Rectangle 63"/>
          <p:cNvSpPr/>
          <p:nvPr/>
        </p:nvSpPr>
        <p:spPr>
          <a:xfrm>
            <a:off x="6263640" y="3410712"/>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63640" y="3438144"/>
            <a:ext cx="5212080" cy="256032"/>
          </a:xfrm>
          <a:prstGeom prst="rect">
            <a:avLst/>
          </a:prstGeom>
          <a:noFill/>
        </p:spPr>
        <p:txBody>
          <a:bodyPr wrap="square" anchor="t" lIns="38100" rIns="38100" tIns="12700" bIns="12700">
            <a:spAutoFit/>
          </a:bodyPr>
          <a:lstStyle/>
          <a:p>
            <a:pPr algn="l">
              <a:lnSpc>
                <a:spcPct val="100000"/>
              </a:lnSpc>
            </a:pPr>
            <a:r>
              <a:rPr sz="1200" b="1" i="0">
                <a:solidFill>
                  <a:srgbClr val="E2E8F2"/>
                </a:solidFill>
                <a:latin typeface="Calibri"/>
              </a:rPr>
              <a:t>REFERENCES</a:t>
            </a:r>
          </a:p>
        </p:txBody>
      </p:sp>
      <p:sp>
        <p:nvSpPr>
          <p:cNvPr id="66" name="TextBox 65"/>
          <p:cNvSpPr txBox="1"/>
          <p:nvPr/>
        </p:nvSpPr>
        <p:spPr>
          <a:xfrm>
            <a:off x="10652760" y="3438144"/>
            <a:ext cx="777240" cy="256032"/>
          </a:xfrm>
          <a:prstGeom prst="rect">
            <a:avLst/>
          </a:prstGeom>
          <a:noFill/>
        </p:spPr>
        <p:txBody>
          <a:bodyPr wrap="square" anchor="t" lIns="38100" rIns="38100" tIns="12700" bIns="12700">
            <a:spAutoFit/>
          </a:bodyPr>
          <a:lstStyle/>
          <a:p>
            <a:pPr algn="r">
              <a:lnSpc>
                <a:spcPct val="100000"/>
              </a:lnSpc>
            </a:pPr>
            <a:r>
              <a:rPr sz="1100" b="0" i="1">
                <a:solidFill>
                  <a:srgbClr val="6B778C"/>
                </a:solidFill>
                <a:latin typeface="Calibri"/>
              </a:rPr>
              <a:t>6</a:t>
            </a:r>
          </a:p>
        </p:txBody>
      </p:sp>
      <p:sp>
        <p:nvSpPr>
          <p:cNvPr id="67" name="Rectangle 66"/>
          <p:cNvSpPr/>
          <p:nvPr/>
        </p:nvSpPr>
        <p:spPr>
          <a:xfrm>
            <a:off x="6263640" y="3703320"/>
            <a:ext cx="5212080" cy="635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70" name="TextBox 69"/>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500" b="1" i="0">
                <a:solidFill>
                  <a:srgbClr val="FFFFFF"/>
                </a:solidFill>
                <a:latin typeface="Calibri"/>
              </a:rPr>
              <a:t>LIST OF FIGURES</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972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1</a:t>
            </a:r>
          </a:p>
        </p:txBody>
      </p:sp>
      <p:sp>
        <p:nvSpPr>
          <p:cNvPr id="7" name="TextBox 6"/>
          <p:cNvSpPr txBox="1"/>
          <p:nvPr/>
        </p:nvSpPr>
        <p:spPr>
          <a:xfrm>
            <a:off x="1316736" y="10972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System architecture of the proposed early-warning system</a:t>
            </a:r>
          </a:p>
        </p:txBody>
      </p:sp>
      <p:sp>
        <p:nvSpPr>
          <p:cNvPr id="8" name="Rounded Rectangle 7"/>
          <p:cNvSpPr/>
          <p:nvPr/>
        </p:nvSpPr>
        <p:spPr>
          <a:xfrm>
            <a:off x="548640" y="15544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544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2</a:t>
            </a:r>
          </a:p>
        </p:txBody>
      </p:sp>
      <p:sp>
        <p:nvSpPr>
          <p:cNvPr id="10" name="TextBox 9"/>
          <p:cNvSpPr txBox="1"/>
          <p:nvPr/>
        </p:nvSpPr>
        <p:spPr>
          <a:xfrm>
            <a:off x="1316736" y="15544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End-to-end system workflow</a:t>
            </a:r>
          </a:p>
        </p:txBody>
      </p:sp>
      <p:sp>
        <p:nvSpPr>
          <p:cNvPr id="11" name="Rounded Rectangle 10"/>
          <p:cNvSpPr/>
          <p:nvPr/>
        </p:nvSpPr>
        <p:spPr>
          <a:xfrm>
            <a:off x="548640" y="20116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116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3</a:t>
            </a:r>
          </a:p>
        </p:txBody>
      </p:sp>
      <p:sp>
        <p:nvSpPr>
          <p:cNvPr id="13" name="TextBox 12"/>
          <p:cNvSpPr txBox="1"/>
          <p:nvPr/>
        </p:nvSpPr>
        <p:spPr>
          <a:xfrm>
            <a:off x="1316736" y="20116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Distribution of risk levels in the training dataset</a:t>
            </a:r>
          </a:p>
        </p:txBody>
      </p:sp>
      <p:sp>
        <p:nvSpPr>
          <p:cNvPr id="14" name="Rounded Rectangle 13"/>
          <p:cNvSpPr/>
          <p:nvPr/>
        </p:nvSpPr>
        <p:spPr>
          <a:xfrm>
            <a:off x="548640" y="24688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4688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4</a:t>
            </a:r>
          </a:p>
        </p:txBody>
      </p:sp>
      <p:sp>
        <p:nvSpPr>
          <p:cNvPr id="16" name="TextBox 15"/>
          <p:cNvSpPr txBox="1"/>
          <p:nvPr/>
        </p:nvSpPr>
        <p:spPr>
          <a:xfrm>
            <a:off x="1316736" y="24688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Model comparison on the held-out test set</a:t>
            </a:r>
          </a:p>
        </p:txBody>
      </p:sp>
      <p:sp>
        <p:nvSpPr>
          <p:cNvPr id="17" name="Rounded Rectangle 16"/>
          <p:cNvSpPr/>
          <p:nvPr/>
        </p:nvSpPr>
        <p:spPr>
          <a:xfrm>
            <a:off x="548640" y="29260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260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5</a:t>
            </a:r>
          </a:p>
        </p:txBody>
      </p:sp>
      <p:sp>
        <p:nvSpPr>
          <p:cNvPr id="19" name="TextBox 18"/>
          <p:cNvSpPr txBox="1"/>
          <p:nvPr/>
        </p:nvSpPr>
        <p:spPr>
          <a:xfrm>
            <a:off x="1316736" y="29260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Confusion matrix of the selected Random Forest model</a:t>
            </a:r>
          </a:p>
        </p:txBody>
      </p:sp>
      <p:sp>
        <p:nvSpPr>
          <p:cNvPr id="20" name="Rounded Rectangle 19"/>
          <p:cNvSpPr/>
          <p:nvPr/>
        </p:nvSpPr>
        <p:spPr>
          <a:xfrm>
            <a:off x="548640" y="33832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383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6</a:t>
            </a:r>
          </a:p>
        </p:txBody>
      </p:sp>
      <p:sp>
        <p:nvSpPr>
          <p:cNvPr id="22" name="TextBox 21"/>
          <p:cNvSpPr txBox="1"/>
          <p:nvPr/>
        </p:nvSpPr>
        <p:spPr>
          <a:xfrm>
            <a:off x="1316736" y="33832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Top 15 feature importances of the selected model</a:t>
            </a:r>
          </a:p>
        </p:txBody>
      </p:sp>
      <p:sp>
        <p:nvSpPr>
          <p:cNvPr id="23" name="Rounded Rectangle 22"/>
          <p:cNvSpPr/>
          <p:nvPr/>
        </p:nvSpPr>
        <p:spPr>
          <a:xfrm>
            <a:off x="6263640" y="10972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1097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7</a:t>
            </a:r>
          </a:p>
        </p:txBody>
      </p:sp>
      <p:sp>
        <p:nvSpPr>
          <p:cNvPr id="25" name="TextBox 24"/>
          <p:cNvSpPr txBox="1"/>
          <p:nvPr/>
        </p:nvSpPr>
        <p:spPr>
          <a:xfrm>
            <a:off x="7031736" y="10972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Login interface</a:t>
            </a:r>
          </a:p>
        </p:txBody>
      </p:sp>
      <p:sp>
        <p:nvSpPr>
          <p:cNvPr id="26" name="Rounded Rectangle 25"/>
          <p:cNvSpPr/>
          <p:nvPr/>
        </p:nvSpPr>
        <p:spPr>
          <a:xfrm>
            <a:off x="6263640" y="15544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15544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8</a:t>
            </a:r>
          </a:p>
        </p:txBody>
      </p:sp>
      <p:sp>
        <p:nvSpPr>
          <p:cNvPr id="28" name="TextBox 27"/>
          <p:cNvSpPr txBox="1"/>
          <p:nvPr/>
        </p:nvSpPr>
        <p:spPr>
          <a:xfrm>
            <a:off x="7031736" y="15544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Early-warning dashboard</a:t>
            </a:r>
          </a:p>
        </p:txBody>
      </p:sp>
      <p:sp>
        <p:nvSpPr>
          <p:cNvPr id="29" name="Rounded Rectangle 28"/>
          <p:cNvSpPr/>
          <p:nvPr/>
        </p:nvSpPr>
        <p:spPr>
          <a:xfrm>
            <a:off x="6263640" y="20116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20116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9</a:t>
            </a:r>
          </a:p>
        </p:txBody>
      </p:sp>
      <p:sp>
        <p:nvSpPr>
          <p:cNvPr id="31" name="TextBox 30"/>
          <p:cNvSpPr txBox="1"/>
          <p:nvPr/>
        </p:nvSpPr>
        <p:spPr>
          <a:xfrm>
            <a:off x="7031736" y="20116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Student records with risk filters</a:t>
            </a:r>
          </a:p>
        </p:txBody>
      </p:sp>
      <p:sp>
        <p:nvSpPr>
          <p:cNvPr id="32" name="Rounded Rectangle 31"/>
          <p:cNvSpPr/>
          <p:nvPr/>
        </p:nvSpPr>
        <p:spPr>
          <a:xfrm>
            <a:off x="6263640" y="24688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24688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10</a:t>
            </a:r>
          </a:p>
        </p:txBody>
      </p:sp>
      <p:sp>
        <p:nvSpPr>
          <p:cNvPr id="34" name="TextBox 33"/>
          <p:cNvSpPr txBox="1"/>
          <p:nvPr/>
        </p:nvSpPr>
        <p:spPr>
          <a:xfrm>
            <a:off x="7031736" y="24688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Student detail with prediction, factors and interventions</a:t>
            </a:r>
          </a:p>
        </p:txBody>
      </p:sp>
      <p:sp>
        <p:nvSpPr>
          <p:cNvPr id="35" name="Rounded Rectangle 34"/>
          <p:cNvSpPr/>
          <p:nvPr/>
        </p:nvSpPr>
        <p:spPr>
          <a:xfrm>
            <a:off x="6263640" y="29260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29260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11</a:t>
            </a:r>
          </a:p>
        </p:txBody>
      </p:sp>
      <p:sp>
        <p:nvSpPr>
          <p:cNvPr id="37" name="TextBox 36"/>
          <p:cNvSpPr txBox="1"/>
          <p:nvPr/>
        </p:nvSpPr>
        <p:spPr>
          <a:xfrm>
            <a:off x="7031736" y="29260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Model performance page</a:t>
            </a:r>
          </a:p>
        </p:txBody>
      </p:sp>
      <p:sp>
        <p:nvSpPr>
          <p:cNvPr id="38" name="Rounded Rectangle 37"/>
          <p:cNvSpPr/>
          <p:nvPr/>
        </p:nvSpPr>
        <p:spPr>
          <a:xfrm>
            <a:off x="6263640" y="3383280"/>
            <a:ext cx="658368" cy="274320"/>
          </a:xfrm>
          <a:prstGeom prst="roundRect">
            <a:avLst>
              <a:gd name="adj" fmla="val 50000"/>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3383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FFFFFF"/>
                </a:solidFill>
                <a:latin typeface="Calibri"/>
              </a:rPr>
              <a:t>Figure 12</a:t>
            </a:r>
          </a:p>
        </p:txBody>
      </p:sp>
      <p:sp>
        <p:nvSpPr>
          <p:cNvPr id="40" name="TextBox 39"/>
          <p:cNvSpPr txBox="1"/>
          <p:nvPr/>
        </p:nvSpPr>
        <p:spPr>
          <a:xfrm>
            <a:off x="7031736" y="3383280"/>
            <a:ext cx="4599432"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Reports page with advisor work-list</a:t>
            </a:r>
          </a:p>
        </p:txBody>
      </p:sp>
      <p:sp>
        <p:nvSpPr>
          <p:cNvPr id="41" name="Rectangle 40"/>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43" name="TextBox 42"/>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500" b="1" i="0">
                <a:solidFill>
                  <a:srgbClr val="FFFFFF"/>
                </a:solidFill>
                <a:latin typeface="Calibri"/>
              </a:rPr>
              <a:t>LIST OF TABLES</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972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1</a:t>
            </a:r>
          </a:p>
        </p:txBody>
      </p:sp>
      <p:sp>
        <p:nvSpPr>
          <p:cNvPr id="7" name="TextBox 6"/>
          <p:cNvSpPr txBox="1"/>
          <p:nvPr/>
        </p:nvSpPr>
        <p:spPr>
          <a:xfrm>
            <a:off x="1335024" y="10972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Student data dictionary (attributes and descriptions)</a:t>
            </a:r>
          </a:p>
        </p:txBody>
      </p:sp>
      <p:sp>
        <p:nvSpPr>
          <p:cNvPr id="8" name="Rounded Rectangle 7"/>
          <p:cNvSpPr/>
          <p:nvPr/>
        </p:nvSpPr>
        <p:spPr>
          <a:xfrm>
            <a:off x="548640" y="15544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544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2</a:t>
            </a:r>
          </a:p>
        </p:txBody>
      </p:sp>
      <p:sp>
        <p:nvSpPr>
          <p:cNvPr id="10" name="TextBox 9"/>
          <p:cNvSpPr txBox="1"/>
          <p:nvPr/>
        </p:nvSpPr>
        <p:spPr>
          <a:xfrm>
            <a:off x="1335024" y="15544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Risk band definition</a:t>
            </a:r>
          </a:p>
        </p:txBody>
      </p:sp>
      <p:sp>
        <p:nvSpPr>
          <p:cNvPr id="11" name="Rounded Rectangle 10"/>
          <p:cNvSpPr/>
          <p:nvPr/>
        </p:nvSpPr>
        <p:spPr>
          <a:xfrm>
            <a:off x="548640" y="20116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116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3</a:t>
            </a:r>
          </a:p>
        </p:txBody>
      </p:sp>
      <p:sp>
        <p:nvSpPr>
          <p:cNvPr id="13" name="TextBox 12"/>
          <p:cNvSpPr txBox="1"/>
          <p:nvPr/>
        </p:nvSpPr>
        <p:spPr>
          <a:xfrm>
            <a:off x="1335024" y="20116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System development tools</a:t>
            </a:r>
          </a:p>
        </p:txBody>
      </p:sp>
      <p:sp>
        <p:nvSpPr>
          <p:cNvPr id="14" name="Rounded Rectangle 13"/>
          <p:cNvSpPr/>
          <p:nvPr/>
        </p:nvSpPr>
        <p:spPr>
          <a:xfrm>
            <a:off x="548640" y="24688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4688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4</a:t>
            </a:r>
          </a:p>
        </p:txBody>
      </p:sp>
      <p:sp>
        <p:nvSpPr>
          <p:cNvPr id="16" name="TextBox 15"/>
          <p:cNvSpPr txBox="1"/>
          <p:nvPr/>
        </p:nvSpPr>
        <p:spPr>
          <a:xfrm>
            <a:off x="1335024" y="24688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Functional requirements</a:t>
            </a:r>
          </a:p>
        </p:txBody>
      </p:sp>
      <p:sp>
        <p:nvSpPr>
          <p:cNvPr id="17" name="Rounded Rectangle 16"/>
          <p:cNvSpPr/>
          <p:nvPr/>
        </p:nvSpPr>
        <p:spPr>
          <a:xfrm>
            <a:off x="548640" y="29260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260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5</a:t>
            </a:r>
          </a:p>
        </p:txBody>
      </p:sp>
      <p:sp>
        <p:nvSpPr>
          <p:cNvPr id="19" name="TextBox 18"/>
          <p:cNvSpPr txBox="1"/>
          <p:nvPr/>
        </p:nvSpPr>
        <p:spPr>
          <a:xfrm>
            <a:off x="1335024" y="29260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Non-functional requirements</a:t>
            </a:r>
          </a:p>
        </p:txBody>
      </p:sp>
      <p:sp>
        <p:nvSpPr>
          <p:cNvPr id="20" name="Rounded Rectangle 19"/>
          <p:cNvSpPr/>
          <p:nvPr/>
        </p:nvSpPr>
        <p:spPr>
          <a:xfrm>
            <a:off x="548640" y="33832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383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6</a:t>
            </a:r>
          </a:p>
        </p:txBody>
      </p:sp>
      <p:sp>
        <p:nvSpPr>
          <p:cNvPr id="22" name="TextBox 21"/>
          <p:cNvSpPr txBox="1"/>
          <p:nvPr/>
        </p:nvSpPr>
        <p:spPr>
          <a:xfrm>
            <a:off x="1335024" y="33832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Test types and scope</a:t>
            </a:r>
          </a:p>
        </p:txBody>
      </p:sp>
      <p:sp>
        <p:nvSpPr>
          <p:cNvPr id="23" name="Rounded Rectangle 22"/>
          <p:cNvSpPr/>
          <p:nvPr/>
        </p:nvSpPr>
        <p:spPr>
          <a:xfrm>
            <a:off x="548640" y="38404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404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7</a:t>
            </a:r>
          </a:p>
        </p:txBody>
      </p:sp>
      <p:sp>
        <p:nvSpPr>
          <p:cNvPr id="25" name="TextBox 24"/>
          <p:cNvSpPr txBox="1"/>
          <p:nvPr/>
        </p:nvSpPr>
        <p:spPr>
          <a:xfrm>
            <a:off x="1335024" y="38404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Dataset profile after preprocessing</a:t>
            </a:r>
          </a:p>
        </p:txBody>
      </p:sp>
      <p:sp>
        <p:nvSpPr>
          <p:cNvPr id="26" name="Rounded Rectangle 25"/>
          <p:cNvSpPr/>
          <p:nvPr/>
        </p:nvSpPr>
        <p:spPr>
          <a:xfrm>
            <a:off x="548640" y="42976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976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8</a:t>
            </a:r>
          </a:p>
        </p:txBody>
      </p:sp>
      <p:sp>
        <p:nvSpPr>
          <p:cNvPr id="28" name="TextBox 27"/>
          <p:cNvSpPr txBox="1"/>
          <p:nvPr/>
        </p:nvSpPr>
        <p:spPr>
          <a:xfrm>
            <a:off x="1335024" y="42976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Comparison of five classifiers</a:t>
            </a:r>
          </a:p>
        </p:txBody>
      </p:sp>
      <p:sp>
        <p:nvSpPr>
          <p:cNvPr id="29" name="Rounded Rectangle 28"/>
          <p:cNvSpPr/>
          <p:nvPr/>
        </p:nvSpPr>
        <p:spPr>
          <a:xfrm>
            <a:off x="6263640" y="10972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1097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9</a:t>
            </a:r>
          </a:p>
        </p:txBody>
      </p:sp>
      <p:sp>
        <p:nvSpPr>
          <p:cNvPr id="31" name="TextBox 30"/>
          <p:cNvSpPr txBox="1"/>
          <p:nvPr/>
        </p:nvSpPr>
        <p:spPr>
          <a:xfrm>
            <a:off x="7050024" y="10972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Per-class metrics of the selected model</a:t>
            </a:r>
          </a:p>
        </p:txBody>
      </p:sp>
      <p:sp>
        <p:nvSpPr>
          <p:cNvPr id="32" name="Rounded Rectangle 31"/>
          <p:cNvSpPr/>
          <p:nvPr/>
        </p:nvSpPr>
        <p:spPr>
          <a:xfrm>
            <a:off x="6263640" y="15544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15544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10</a:t>
            </a:r>
          </a:p>
        </p:txBody>
      </p:sp>
      <p:sp>
        <p:nvSpPr>
          <p:cNvPr id="34" name="TextBox 33"/>
          <p:cNvSpPr txBox="1"/>
          <p:nvPr/>
        </p:nvSpPr>
        <p:spPr>
          <a:xfrm>
            <a:off x="7050024" y="15544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Confusion matrix of the selected model</a:t>
            </a:r>
          </a:p>
        </p:txBody>
      </p:sp>
      <p:sp>
        <p:nvSpPr>
          <p:cNvPr id="35" name="Rounded Rectangle 34"/>
          <p:cNvSpPr/>
          <p:nvPr/>
        </p:nvSpPr>
        <p:spPr>
          <a:xfrm>
            <a:off x="6263640" y="20116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20116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11</a:t>
            </a:r>
          </a:p>
        </p:txBody>
      </p:sp>
      <p:sp>
        <p:nvSpPr>
          <p:cNvPr id="37" name="TextBox 36"/>
          <p:cNvSpPr txBox="1"/>
          <p:nvPr/>
        </p:nvSpPr>
        <p:spPr>
          <a:xfrm>
            <a:off x="7050024" y="20116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Feature importance ranking</a:t>
            </a:r>
          </a:p>
        </p:txBody>
      </p:sp>
      <p:sp>
        <p:nvSpPr>
          <p:cNvPr id="38" name="Rounded Rectangle 37"/>
          <p:cNvSpPr/>
          <p:nvPr/>
        </p:nvSpPr>
        <p:spPr>
          <a:xfrm>
            <a:off x="6263640" y="24688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24688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12</a:t>
            </a:r>
          </a:p>
        </p:txBody>
      </p:sp>
      <p:sp>
        <p:nvSpPr>
          <p:cNvPr id="40" name="TextBox 39"/>
          <p:cNvSpPr txBox="1"/>
          <p:nvPr/>
        </p:nvSpPr>
        <p:spPr>
          <a:xfrm>
            <a:off x="7050024" y="24688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Answers to the research questions</a:t>
            </a:r>
          </a:p>
        </p:txBody>
      </p:sp>
      <p:sp>
        <p:nvSpPr>
          <p:cNvPr id="41" name="Rounded Rectangle 40"/>
          <p:cNvSpPr/>
          <p:nvPr/>
        </p:nvSpPr>
        <p:spPr>
          <a:xfrm>
            <a:off x="6263640" y="29260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3640" y="29260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13</a:t>
            </a:r>
          </a:p>
        </p:txBody>
      </p:sp>
      <p:sp>
        <p:nvSpPr>
          <p:cNvPr id="43" name="TextBox 42"/>
          <p:cNvSpPr txBox="1"/>
          <p:nvPr/>
        </p:nvSpPr>
        <p:spPr>
          <a:xfrm>
            <a:off x="7050024" y="29260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Automated system test results</a:t>
            </a:r>
          </a:p>
        </p:txBody>
      </p:sp>
      <p:sp>
        <p:nvSpPr>
          <p:cNvPr id="44" name="Rounded Rectangle 43"/>
          <p:cNvSpPr/>
          <p:nvPr/>
        </p:nvSpPr>
        <p:spPr>
          <a:xfrm>
            <a:off x="6263640" y="33832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63640" y="33832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14</a:t>
            </a:r>
          </a:p>
        </p:txBody>
      </p:sp>
      <p:sp>
        <p:nvSpPr>
          <p:cNvPr id="46" name="TextBox 45"/>
          <p:cNvSpPr txBox="1"/>
          <p:nvPr/>
        </p:nvSpPr>
        <p:spPr>
          <a:xfrm>
            <a:off x="7050024" y="33832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User-acceptance test results</a:t>
            </a:r>
          </a:p>
        </p:txBody>
      </p:sp>
      <p:sp>
        <p:nvSpPr>
          <p:cNvPr id="47" name="Rounded Rectangle 46"/>
          <p:cNvSpPr/>
          <p:nvPr/>
        </p:nvSpPr>
        <p:spPr>
          <a:xfrm>
            <a:off x="6263640" y="3840480"/>
            <a:ext cx="658368" cy="274320"/>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3840480"/>
            <a:ext cx="658368" cy="274320"/>
          </a:xfrm>
          <a:prstGeom prst="rect">
            <a:avLst/>
          </a:prstGeom>
          <a:noFill/>
        </p:spPr>
        <p:txBody>
          <a:bodyPr wrap="square" anchor="ctr" lIns="38100" rIns="38100" tIns="12700" bIns="12700">
            <a:spAutoFit/>
          </a:bodyPr>
          <a:lstStyle/>
          <a:p>
            <a:pPr algn="ctr">
              <a:lnSpc>
                <a:spcPct val="100000"/>
              </a:lnSpc>
            </a:pPr>
            <a:r>
              <a:rPr sz="900" b="1" i="0">
                <a:solidFill>
                  <a:srgbClr val="0E162A"/>
                </a:solidFill>
                <a:latin typeface="Calibri"/>
              </a:rPr>
              <a:t>Table 15</a:t>
            </a:r>
          </a:p>
        </p:txBody>
      </p:sp>
      <p:sp>
        <p:nvSpPr>
          <p:cNvPr id="49" name="TextBox 48"/>
          <p:cNvSpPr txBox="1"/>
          <p:nvPr/>
        </p:nvSpPr>
        <p:spPr>
          <a:xfrm>
            <a:off x="7050024" y="3840480"/>
            <a:ext cx="4526280" cy="411480"/>
          </a:xfrm>
          <a:prstGeom prst="rect">
            <a:avLst/>
          </a:prstGeom>
          <a:noFill/>
        </p:spPr>
        <p:txBody>
          <a:bodyPr wrap="square" anchor="t" lIns="38100" rIns="38100" tIns="12700" bIns="12700">
            <a:spAutoFit/>
          </a:bodyPr>
          <a:lstStyle/>
          <a:p>
            <a:pPr algn="l">
              <a:lnSpc>
                <a:spcPct val="105000"/>
              </a:lnSpc>
            </a:pPr>
            <a:r>
              <a:rPr sz="1150" b="0" i="0">
                <a:solidFill>
                  <a:srgbClr val="E2E8F2"/>
                </a:solidFill>
                <a:latin typeface="Calibri"/>
              </a:rPr>
              <a:t>Performance benchmarks</a:t>
            </a:r>
          </a:p>
        </p:txBody>
      </p:sp>
      <p:sp>
        <p:nvSpPr>
          <p:cNvPr id="50" name="Rectangle 49"/>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52" name="TextBox 51"/>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400" b="1" i="0">
                <a:solidFill>
                  <a:srgbClr val="FFFFFF"/>
                </a:solidFill>
                <a:latin typeface="Calibri"/>
              </a:rPr>
              <a:t>LIST OF ABBREVIATIONS</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97280"/>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AI</a:t>
            </a:r>
          </a:p>
        </p:txBody>
      </p:sp>
      <p:sp>
        <p:nvSpPr>
          <p:cNvPr id="7" name="TextBox 6"/>
          <p:cNvSpPr txBox="1"/>
          <p:nvPr/>
        </p:nvSpPr>
        <p:spPr>
          <a:xfrm>
            <a:off x="1316736" y="1106424"/>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Artificial Intelligence</a:t>
            </a:r>
          </a:p>
        </p:txBody>
      </p:sp>
      <p:sp>
        <p:nvSpPr>
          <p:cNvPr id="8" name="Rounded Rectangle 7"/>
          <p:cNvSpPr/>
          <p:nvPr/>
        </p:nvSpPr>
        <p:spPr>
          <a:xfrm>
            <a:off x="548640" y="1435608"/>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35608"/>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API</a:t>
            </a:r>
          </a:p>
        </p:txBody>
      </p:sp>
      <p:sp>
        <p:nvSpPr>
          <p:cNvPr id="10" name="TextBox 9"/>
          <p:cNvSpPr txBox="1"/>
          <p:nvPr/>
        </p:nvSpPr>
        <p:spPr>
          <a:xfrm>
            <a:off x="1316736" y="1444752"/>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Application Programming Interface</a:t>
            </a:r>
          </a:p>
        </p:txBody>
      </p:sp>
      <p:sp>
        <p:nvSpPr>
          <p:cNvPr id="11" name="Rounded Rectangle 10"/>
          <p:cNvSpPr/>
          <p:nvPr/>
        </p:nvSpPr>
        <p:spPr>
          <a:xfrm>
            <a:off x="548640" y="1773936"/>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73936"/>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CA</a:t>
            </a:r>
          </a:p>
        </p:txBody>
      </p:sp>
      <p:sp>
        <p:nvSpPr>
          <p:cNvPr id="13" name="TextBox 12"/>
          <p:cNvSpPr txBox="1"/>
          <p:nvPr/>
        </p:nvSpPr>
        <p:spPr>
          <a:xfrm>
            <a:off x="1316736" y="1783080"/>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Continuous Assessment</a:t>
            </a:r>
          </a:p>
        </p:txBody>
      </p:sp>
      <p:sp>
        <p:nvSpPr>
          <p:cNvPr id="14" name="Rounded Rectangle 13"/>
          <p:cNvSpPr/>
          <p:nvPr/>
        </p:nvSpPr>
        <p:spPr>
          <a:xfrm>
            <a:off x="548640" y="2112264"/>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12264"/>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CSV</a:t>
            </a:r>
          </a:p>
        </p:txBody>
      </p:sp>
      <p:sp>
        <p:nvSpPr>
          <p:cNvPr id="16" name="TextBox 15"/>
          <p:cNvSpPr txBox="1"/>
          <p:nvPr/>
        </p:nvSpPr>
        <p:spPr>
          <a:xfrm>
            <a:off x="1316736" y="2121408"/>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Comma-Separated Values</a:t>
            </a:r>
          </a:p>
        </p:txBody>
      </p:sp>
      <p:sp>
        <p:nvSpPr>
          <p:cNvPr id="17" name="Rounded Rectangle 16"/>
          <p:cNvSpPr/>
          <p:nvPr/>
        </p:nvSpPr>
        <p:spPr>
          <a:xfrm>
            <a:off x="548640" y="2450592"/>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450592"/>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CV</a:t>
            </a:r>
          </a:p>
        </p:txBody>
      </p:sp>
      <p:sp>
        <p:nvSpPr>
          <p:cNvPr id="19" name="TextBox 18"/>
          <p:cNvSpPr txBox="1"/>
          <p:nvPr/>
        </p:nvSpPr>
        <p:spPr>
          <a:xfrm>
            <a:off x="1316736" y="2459736"/>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Cross-Validation</a:t>
            </a:r>
          </a:p>
        </p:txBody>
      </p:sp>
      <p:sp>
        <p:nvSpPr>
          <p:cNvPr id="20" name="Rounded Rectangle 19"/>
          <p:cNvSpPr/>
          <p:nvPr/>
        </p:nvSpPr>
        <p:spPr>
          <a:xfrm>
            <a:off x="548640" y="2788920"/>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788920"/>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DBMS</a:t>
            </a:r>
          </a:p>
        </p:txBody>
      </p:sp>
      <p:sp>
        <p:nvSpPr>
          <p:cNvPr id="22" name="TextBox 21"/>
          <p:cNvSpPr txBox="1"/>
          <p:nvPr/>
        </p:nvSpPr>
        <p:spPr>
          <a:xfrm>
            <a:off x="1316736" y="2798064"/>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Database Management System</a:t>
            </a:r>
          </a:p>
        </p:txBody>
      </p:sp>
      <p:sp>
        <p:nvSpPr>
          <p:cNvPr id="23" name="Rounded Rectangle 22"/>
          <p:cNvSpPr/>
          <p:nvPr/>
        </p:nvSpPr>
        <p:spPr>
          <a:xfrm>
            <a:off x="548640" y="3127248"/>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127248"/>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EDM</a:t>
            </a:r>
          </a:p>
        </p:txBody>
      </p:sp>
      <p:sp>
        <p:nvSpPr>
          <p:cNvPr id="25" name="TextBox 24"/>
          <p:cNvSpPr txBox="1"/>
          <p:nvPr/>
        </p:nvSpPr>
        <p:spPr>
          <a:xfrm>
            <a:off x="1316736" y="3136392"/>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Educational Data Mining</a:t>
            </a:r>
          </a:p>
        </p:txBody>
      </p:sp>
      <p:sp>
        <p:nvSpPr>
          <p:cNvPr id="26" name="Rounded Rectangle 25"/>
          <p:cNvSpPr/>
          <p:nvPr/>
        </p:nvSpPr>
        <p:spPr>
          <a:xfrm>
            <a:off x="548640" y="3465576"/>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465576"/>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F1</a:t>
            </a:r>
          </a:p>
        </p:txBody>
      </p:sp>
      <p:sp>
        <p:nvSpPr>
          <p:cNvPr id="28" name="TextBox 27"/>
          <p:cNvSpPr txBox="1"/>
          <p:nvPr/>
        </p:nvSpPr>
        <p:spPr>
          <a:xfrm>
            <a:off x="1316736" y="3474720"/>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F1 Score (harmonic mean of precision and recall)</a:t>
            </a:r>
          </a:p>
        </p:txBody>
      </p:sp>
      <p:sp>
        <p:nvSpPr>
          <p:cNvPr id="29" name="Rounded Rectangle 28"/>
          <p:cNvSpPr/>
          <p:nvPr/>
        </p:nvSpPr>
        <p:spPr>
          <a:xfrm>
            <a:off x="548640" y="3803904"/>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803904"/>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GPA</a:t>
            </a:r>
          </a:p>
        </p:txBody>
      </p:sp>
      <p:sp>
        <p:nvSpPr>
          <p:cNvPr id="31" name="TextBox 30"/>
          <p:cNvSpPr txBox="1"/>
          <p:nvPr/>
        </p:nvSpPr>
        <p:spPr>
          <a:xfrm>
            <a:off x="1316736" y="3813048"/>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Grade Point Average</a:t>
            </a:r>
          </a:p>
        </p:txBody>
      </p:sp>
      <p:sp>
        <p:nvSpPr>
          <p:cNvPr id="32" name="Rounded Rectangle 31"/>
          <p:cNvSpPr/>
          <p:nvPr/>
        </p:nvSpPr>
        <p:spPr>
          <a:xfrm>
            <a:off x="548640" y="4142232"/>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142232"/>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HTML</a:t>
            </a:r>
          </a:p>
        </p:txBody>
      </p:sp>
      <p:sp>
        <p:nvSpPr>
          <p:cNvPr id="34" name="TextBox 33"/>
          <p:cNvSpPr txBox="1"/>
          <p:nvPr/>
        </p:nvSpPr>
        <p:spPr>
          <a:xfrm>
            <a:off x="1316736" y="4151376"/>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HyperText Markup Language</a:t>
            </a:r>
          </a:p>
        </p:txBody>
      </p:sp>
      <p:sp>
        <p:nvSpPr>
          <p:cNvPr id="35" name="Rounded Rectangle 34"/>
          <p:cNvSpPr/>
          <p:nvPr/>
        </p:nvSpPr>
        <p:spPr>
          <a:xfrm>
            <a:off x="6263640" y="1097280"/>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1097280"/>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LMS</a:t>
            </a:r>
          </a:p>
        </p:txBody>
      </p:sp>
      <p:sp>
        <p:nvSpPr>
          <p:cNvPr id="37" name="TextBox 36"/>
          <p:cNvSpPr txBox="1"/>
          <p:nvPr/>
        </p:nvSpPr>
        <p:spPr>
          <a:xfrm>
            <a:off x="7031736" y="1106424"/>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Learning Management System</a:t>
            </a:r>
          </a:p>
        </p:txBody>
      </p:sp>
      <p:sp>
        <p:nvSpPr>
          <p:cNvPr id="38" name="Rounded Rectangle 37"/>
          <p:cNvSpPr/>
          <p:nvPr/>
        </p:nvSpPr>
        <p:spPr>
          <a:xfrm>
            <a:off x="6263640" y="1435608"/>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1435608"/>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ML</a:t>
            </a:r>
          </a:p>
        </p:txBody>
      </p:sp>
      <p:sp>
        <p:nvSpPr>
          <p:cNvPr id="40" name="TextBox 39"/>
          <p:cNvSpPr txBox="1"/>
          <p:nvPr/>
        </p:nvSpPr>
        <p:spPr>
          <a:xfrm>
            <a:off x="7031736" y="1444752"/>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Machine Learning</a:t>
            </a:r>
          </a:p>
        </p:txBody>
      </p:sp>
      <p:sp>
        <p:nvSpPr>
          <p:cNvPr id="41" name="Rounded Rectangle 40"/>
          <p:cNvSpPr/>
          <p:nvPr/>
        </p:nvSpPr>
        <p:spPr>
          <a:xfrm>
            <a:off x="6263640" y="1773936"/>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3640" y="1773936"/>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NB</a:t>
            </a:r>
          </a:p>
        </p:txBody>
      </p:sp>
      <p:sp>
        <p:nvSpPr>
          <p:cNvPr id="43" name="TextBox 42"/>
          <p:cNvSpPr txBox="1"/>
          <p:nvPr/>
        </p:nvSpPr>
        <p:spPr>
          <a:xfrm>
            <a:off x="7031736" y="1783080"/>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Naïve Bayes</a:t>
            </a:r>
          </a:p>
        </p:txBody>
      </p:sp>
      <p:sp>
        <p:nvSpPr>
          <p:cNvPr id="44" name="Rounded Rectangle 43"/>
          <p:cNvSpPr/>
          <p:nvPr/>
        </p:nvSpPr>
        <p:spPr>
          <a:xfrm>
            <a:off x="6263640" y="2112264"/>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63640" y="2112264"/>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REST</a:t>
            </a:r>
          </a:p>
        </p:txBody>
      </p:sp>
      <p:sp>
        <p:nvSpPr>
          <p:cNvPr id="46" name="TextBox 45"/>
          <p:cNvSpPr txBox="1"/>
          <p:nvPr/>
        </p:nvSpPr>
        <p:spPr>
          <a:xfrm>
            <a:off x="7031736" y="2121408"/>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Representational State Transfer</a:t>
            </a:r>
          </a:p>
        </p:txBody>
      </p:sp>
      <p:sp>
        <p:nvSpPr>
          <p:cNvPr id="47" name="Rounded Rectangle 46"/>
          <p:cNvSpPr/>
          <p:nvPr/>
        </p:nvSpPr>
        <p:spPr>
          <a:xfrm>
            <a:off x="6263640" y="2450592"/>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2450592"/>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RF</a:t>
            </a:r>
          </a:p>
        </p:txBody>
      </p:sp>
      <p:sp>
        <p:nvSpPr>
          <p:cNvPr id="49" name="TextBox 48"/>
          <p:cNvSpPr txBox="1"/>
          <p:nvPr/>
        </p:nvSpPr>
        <p:spPr>
          <a:xfrm>
            <a:off x="7031736" y="2459736"/>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Random Forest</a:t>
            </a:r>
          </a:p>
        </p:txBody>
      </p:sp>
      <p:sp>
        <p:nvSpPr>
          <p:cNvPr id="50" name="Rounded Rectangle 49"/>
          <p:cNvSpPr/>
          <p:nvPr/>
        </p:nvSpPr>
        <p:spPr>
          <a:xfrm>
            <a:off x="6263640" y="2788920"/>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2788920"/>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RBAC</a:t>
            </a:r>
          </a:p>
        </p:txBody>
      </p:sp>
      <p:sp>
        <p:nvSpPr>
          <p:cNvPr id="52" name="TextBox 51"/>
          <p:cNvSpPr txBox="1"/>
          <p:nvPr/>
        </p:nvSpPr>
        <p:spPr>
          <a:xfrm>
            <a:off x="7031736" y="2798064"/>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Role-Based Access Control</a:t>
            </a:r>
          </a:p>
        </p:txBody>
      </p:sp>
      <p:sp>
        <p:nvSpPr>
          <p:cNvPr id="53" name="Rounded Rectangle 52"/>
          <p:cNvSpPr/>
          <p:nvPr/>
        </p:nvSpPr>
        <p:spPr>
          <a:xfrm>
            <a:off x="6263640" y="3127248"/>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63640" y="3127248"/>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SVM</a:t>
            </a:r>
          </a:p>
        </p:txBody>
      </p:sp>
      <p:sp>
        <p:nvSpPr>
          <p:cNvPr id="55" name="TextBox 54"/>
          <p:cNvSpPr txBox="1"/>
          <p:nvPr/>
        </p:nvSpPr>
        <p:spPr>
          <a:xfrm>
            <a:off x="7031736" y="3136392"/>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Support Vector Machine</a:t>
            </a:r>
          </a:p>
        </p:txBody>
      </p:sp>
      <p:sp>
        <p:nvSpPr>
          <p:cNvPr id="56" name="Rounded Rectangle 55"/>
          <p:cNvSpPr/>
          <p:nvPr/>
        </p:nvSpPr>
        <p:spPr>
          <a:xfrm>
            <a:off x="6263640" y="3465576"/>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63640" y="3465576"/>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UAT</a:t>
            </a:r>
          </a:p>
        </p:txBody>
      </p:sp>
      <p:sp>
        <p:nvSpPr>
          <p:cNvPr id="58" name="TextBox 57"/>
          <p:cNvSpPr txBox="1"/>
          <p:nvPr/>
        </p:nvSpPr>
        <p:spPr>
          <a:xfrm>
            <a:off x="7031736" y="3474720"/>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User Acceptance Testing</a:t>
            </a:r>
          </a:p>
        </p:txBody>
      </p:sp>
      <p:sp>
        <p:nvSpPr>
          <p:cNvPr id="59" name="Rounded Rectangle 58"/>
          <p:cNvSpPr/>
          <p:nvPr/>
        </p:nvSpPr>
        <p:spPr>
          <a:xfrm>
            <a:off x="6263640" y="3803904"/>
            <a:ext cx="658368" cy="292608"/>
          </a:xfrm>
          <a:prstGeom prst="roundRect">
            <a:avLst>
              <a:gd name="adj" fmla="val 18000"/>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63640" y="3803904"/>
            <a:ext cx="658368" cy="292608"/>
          </a:xfrm>
          <a:prstGeom prst="rect">
            <a:avLst/>
          </a:prstGeom>
          <a:noFill/>
        </p:spPr>
        <p:txBody>
          <a:bodyPr wrap="square" anchor="ctr" lIns="38100" rIns="38100" tIns="12700" bIns="12700">
            <a:spAutoFit/>
          </a:bodyPr>
          <a:lstStyle/>
          <a:p>
            <a:pPr algn="ctr">
              <a:lnSpc>
                <a:spcPct val="100000"/>
              </a:lnSpc>
            </a:pPr>
            <a:r>
              <a:rPr sz="1000" b="1" i="0">
                <a:solidFill>
                  <a:srgbClr val="FFFFFF"/>
                </a:solidFill>
                <a:latin typeface="Calibri"/>
              </a:rPr>
              <a:t>WSGI</a:t>
            </a:r>
          </a:p>
        </p:txBody>
      </p:sp>
      <p:sp>
        <p:nvSpPr>
          <p:cNvPr id="61" name="TextBox 60"/>
          <p:cNvSpPr txBox="1"/>
          <p:nvPr/>
        </p:nvSpPr>
        <p:spPr>
          <a:xfrm>
            <a:off x="7031736" y="3813048"/>
            <a:ext cx="4572000" cy="292608"/>
          </a:xfrm>
          <a:prstGeom prst="rect">
            <a:avLst/>
          </a:prstGeom>
          <a:noFill/>
        </p:spPr>
        <p:txBody>
          <a:bodyPr wrap="square" anchor="ctr" lIns="38100" rIns="38100" tIns="12700" bIns="12700">
            <a:spAutoFit/>
          </a:bodyPr>
          <a:lstStyle/>
          <a:p>
            <a:pPr algn="l">
              <a:lnSpc>
                <a:spcPct val="100000"/>
              </a:lnSpc>
            </a:pPr>
            <a:r>
              <a:rPr sz="1100" b="0" i="0">
                <a:solidFill>
                  <a:srgbClr val="E2E8F2"/>
                </a:solidFill>
                <a:latin typeface="Calibri"/>
              </a:rPr>
              <a:t>Web Server Gateway Interface</a:t>
            </a:r>
          </a:p>
        </p:txBody>
      </p:sp>
      <p:sp>
        <p:nvSpPr>
          <p:cNvPr id="62" name="Rectangle 61"/>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64" name="TextBox 63"/>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1</a:t>
            </a:r>
          </a:p>
        </p:txBody>
      </p:sp>
      <p:sp>
        <p:nvSpPr>
          <p:cNvPr id="5" name="Rounded Rectangle 4"/>
          <p:cNvSpPr/>
          <p:nvPr/>
        </p:nvSpPr>
        <p:spPr>
          <a:xfrm>
            <a:off x="5537016" y="384048"/>
            <a:ext cx="111766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7016" y="384048"/>
            <a:ext cx="111766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1.1  |  1.2</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1.1  Background and Motivation</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advancement of Artificial Intelligence has transformed many sectors including healthcare, finance, transportation and education (Holmes et al., 2019).</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In higher education, universities generate large volumes of student data: examination scores, attendance records, assignment marks, continuous-assessment scores, LMS activity and demographic information.</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Despite the availability of these data, many institutions still rely on traditional methods of identifying academically struggling students — typically only after poor examination results or a low GPA has accumulated.</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Early identification is important because it enables lecturers and academic advisors to provide timely academic support, counselling, mentoring and intervention strategies.</a:t>
            </a:r>
          </a:p>
        </p:txBody>
      </p:sp>
      <p:sp>
        <p:nvSpPr>
          <p:cNvPr id="13" name="TextBox 12"/>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Delayed identification limits effectiveness: educators have little time to assist students before performance deteriorates further.</a:t>
            </a:r>
          </a:p>
        </p:txBody>
      </p:sp>
      <p:sp>
        <p:nvSpPr>
          <p:cNvPr id="14" name="TextBox 13"/>
          <p:cNvSpPr txBox="1"/>
          <p:nvPr/>
        </p:nvSpPr>
        <p:spPr>
          <a:xfrm>
            <a:off x="548640" y="1824227"/>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Conventional monitoring is largely manual, time-consuming and dependent on individual observation; it may overlook subtle indicators of academic risk hidden within student records (Romero &amp; Ventura, 2010).</a:t>
            </a:r>
          </a:p>
        </p:txBody>
      </p:sp>
      <p:sp>
        <p:nvSpPr>
          <p:cNvPr id="15" name="TextBox 14"/>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1.2  Statement of the Problem</a:t>
            </a:r>
          </a:p>
        </p:txBody>
      </p:sp>
      <p:sp>
        <p:nvSpPr>
          <p:cNvPr id="16" name="TextBox 15"/>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Many universities identify academically weak students only after they have performed poorly in examinations or accumulated low GPAs.</a:t>
            </a:r>
          </a:p>
        </p:txBody>
      </p:sp>
      <p:sp>
        <p:nvSpPr>
          <p:cNvPr id="17" name="TextBox 16"/>
          <p:cNvSpPr txBox="1"/>
          <p:nvPr/>
        </p:nvSpPr>
        <p:spPr>
          <a:xfrm>
            <a:off x="548640" y="2290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This delayed identification limits the effectiveness of interventions — lecturers and advisors have little time to assist before academic performance deteriorates further.</a:t>
            </a:r>
          </a:p>
        </p:txBody>
      </p:sp>
      <p:sp>
        <p:nvSpPr>
          <p:cNvPr id="18" name="TextBox 17"/>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Current methods of monitoring student performance are largely manual, time-consuming and dependent on lecturers’ individual observations.</a:t>
            </a:r>
          </a:p>
        </p:txBody>
      </p:sp>
      <p:sp>
        <p:nvSpPr>
          <p:cNvPr id="19" name="TextBox 18"/>
          <p:cNvSpPr txBox="1"/>
          <p:nvPr/>
        </p:nvSpPr>
        <p:spPr>
          <a:xfrm>
            <a:off x="548640"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Existing Student Information Systems store student records but rarely provide predictive capability.</a:t>
            </a:r>
          </a:p>
        </p:txBody>
      </p:sp>
      <p:sp>
        <p:nvSpPr>
          <p:cNvPr id="20" name="TextBox 19"/>
          <p:cNvSpPr txBox="1"/>
          <p:nvPr/>
        </p:nvSpPr>
        <p:spPr>
          <a:xfrm>
            <a:off x="6210147"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Where predictions exist, they commonly focus only on final GPA, lack visual dashboards, do not generate early-intervention alerts and are not designed for local university environments.</a:t>
            </a:r>
          </a:p>
        </p:txBody>
      </p:sp>
      <p:sp>
        <p:nvSpPr>
          <p:cNvPr id="21" name="TextBox 20"/>
          <p:cNvSpPr txBox="1"/>
          <p:nvPr/>
        </p:nvSpPr>
        <p:spPr>
          <a:xfrm>
            <a:off x="548640"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Consequently, lecturers and advisors must interpret raw spreadsheets themselves, and no systematic link exists between a prediction and the intervention it should trigger.</a:t>
            </a:r>
          </a:p>
        </p:txBody>
      </p:sp>
      <p:sp>
        <p:nvSpPr>
          <p:cNvPr id="22" name="TextBox 21"/>
          <p:cNvSpPr txBox="1"/>
          <p:nvPr/>
        </p:nvSpPr>
        <p:spPr>
          <a:xfrm>
            <a:off x="6210147"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There is a need for an intelligent system capable of predicting underperformance BEFORE final examinations, so that timely interventions can be implemented.</a:t>
            </a:r>
          </a:p>
        </p:txBody>
      </p:sp>
      <p:sp>
        <p:nvSpPr>
          <p:cNvPr id="23" name="Rectangle 22"/>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989320"/>
            <a:ext cx="10972800" cy="320040"/>
          </a:xfrm>
          <a:prstGeom prst="rect">
            <a:avLst/>
          </a:prstGeom>
          <a:noFill/>
        </p:spPr>
        <p:txBody>
          <a:bodyPr wrap="square" anchor="t" lIns="38100" rIns="38100" tIns="12700" bIns="12700">
            <a:spAutoFit/>
          </a:bodyPr>
          <a:lstStyle/>
          <a:p>
            <a:pPr algn="l">
              <a:lnSpc>
                <a:spcPct val="100000"/>
              </a:lnSpc>
            </a:pPr>
            <a:r>
              <a:rPr sz="1050" b="0" i="1">
                <a:solidFill>
                  <a:srgbClr val="6B778C"/>
                </a:solidFill>
                <a:latin typeface="Calibri"/>
              </a:rPr>
              <a:t>Early identification enables timely support; delayed discovery comes too late to help.</a:t>
            </a:r>
          </a:p>
        </p:txBody>
      </p:sp>
      <p:sp>
        <p:nvSpPr>
          <p:cNvPr id="25" name="Rectangle 24"/>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7" name="TextBox 26"/>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1</a:t>
            </a:r>
          </a:p>
        </p:txBody>
      </p:sp>
      <p:sp>
        <p:nvSpPr>
          <p:cNvPr id="5" name="Rounded Rectangle 4"/>
          <p:cNvSpPr/>
          <p:nvPr/>
        </p:nvSpPr>
        <p:spPr>
          <a:xfrm>
            <a:off x="4950276" y="384048"/>
            <a:ext cx="229114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50276" y="384048"/>
            <a:ext cx="229114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1.3  |  1.4  |  1.5  |  1.6</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1.3  Scope of the Study</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Predicts academic performance from pre-final-exam data: CA scores, attendance, previous GPA, assignment, quiz, mid-semester, study hours, programme, department, age, gender.</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Outputs three academic risk levels: Low Risk (≥70), Medium Risk (50–69.99), High Risk (&lt;50).</a:t>
            </a:r>
          </a:p>
        </p:txBody>
      </p:sp>
      <p:sp>
        <p:nvSpPr>
          <p:cNvPr id="11" name="TextBox 10"/>
          <p:cNvSpPr txBox="1"/>
          <p:nvPr/>
        </p:nvSpPr>
        <p:spPr>
          <a:xfrm>
            <a:off x="6210147" y="1303019"/>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Develops a prototype for university use; does NOT replace lecturers’ professional judgement — decision support that prioritises who to attend to first.</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Covers system design, data collection &amp; preprocessing, model development &amp; evaluation, web app implementation and testing.</a:t>
            </a:r>
          </a:p>
        </p:txBody>
      </p:sp>
      <p:sp>
        <p:nvSpPr>
          <p:cNvPr id="13" name="TextBox 12"/>
          <p:cNvSpPr txBox="1"/>
          <p:nvPr/>
        </p:nvSpPr>
        <p:spPr>
          <a:xfrm>
            <a:off x="6210147" y="176936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SIS integration, longitudinal multi-cohort tracking and formal large-sample user studies are outside the current scope.</a:t>
            </a:r>
          </a:p>
        </p:txBody>
      </p:sp>
      <p:sp>
        <p:nvSpPr>
          <p:cNvPr id="14" name="TextBox 13"/>
          <p:cNvSpPr txBox="1"/>
          <p:nvPr/>
        </p:nvSpPr>
        <p:spPr>
          <a:xfrm>
            <a:off x="548640"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1.4  Research Objectives</a:t>
            </a:r>
          </a:p>
        </p:txBody>
      </p:sp>
      <p:sp>
        <p:nvSpPr>
          <p:cNvPr id="15" name="TextBox 14"/>
          <p:cNvSpPr txBox="1"/>
          <p:nvPr/>
        </p:nvSpPr>
        <p:spPr>
          <a:xfrm>
            <a:off x="6210147" y="202996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Global objective: develop an AI-based system that predicts university students’ academic performance and assists lecturers and academic advisors in identifying at-risk students at an early stage.</a:t>
            </a:r>
          </a:p>
        </p:txBody>
      </p:sp>
      <p:sp>
        <p:nvSpPr>
          <p:cNvPr id="16" name="TextBox 15"/>
          <p:cNvSpPr txBox="1"/>
          <p:nvPr/>
        </p:nvSpPr>
        <p:spPr>
          <a:xfrm>
            <a:off x="548640" y="2084831"/>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Specific objectives: (1) design the system; (2) collect &amp; preprocess data; (3) develop an ML model; (4) classify risk levels; (5) build a web dashboard; (6) provide intervention recommendations; (7) evaluate accuracy &amp; effectiveness.</a:t>
            </a:r>
          </a:p>
        </p:txBody>
      </p:sp>
      <p:sp>
        <p:nvSpPr>
          <p:cNvPr id="17" name="TextBox 16"/>
          <p:cNvSpPr txBox="1"/>
          <p:nvPr/>
        </p:nvSpPr>
        <p:spPr>
          <a:xfrm>
            <a:off x="6210147" y="2290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1.5  Research Contribution</a:t>
            </a:r>
          </a:p>
        </p:txBody>
      </p:sp>
      <p:sp>
        <p:nvSpPr>
          <p:cNvPr id="18" name="TextBox 17"/>
          <p:cNvSpPr txBox="1"/>
          <p:nvPr/>
        </p:nvSpPr>
        <p:spPr>
          <a:xfrm>
            <a:off x="548640"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Students: early identification of learning difficulties, improved academic support and better academic planning.</a:t>
            </a:r>
          </a:p>
        </p:txBody>
      </p:sp>
      <p:sp>
        <p:nvSpPr>
          <p:cNvPr id="19" name="TextBox 18"/>
          <p:cNvSpPr txBox="1"/>
          <p:nvPr/>
        </p:nvSpPr>
        <p:spPr>
          <a:xfrm>
            <a:off x="6210147"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Lecturers: easier monitoring and early detection of struggling students without manual spreadsheet analysis.</a:t>
            </a:r>
          </a:p>
        </p:txBody>
      </p:sp>
      <p:sp>
        <p:nvSpPr>
          <p:cNvPr id="20" name="TextBox 19"/>
          <p:cNvSpPr txBox="1"/>
          <p:nvPr/>
        </p:nvSpPr>
        <p:spPr>
          <a:xfrm>
            <a:off x="548640"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Academic Advisors: better decision-making through a prioritised at-risk work-list and improved, evidence-informed student counselling, with interventions recorded &amp; tracked.</a:t>
            </a:r>
          </a:p>
        </p:txBody>
      </p:sp>
      <p:sp>
        <p:nvSpPr>
          <p:cNvPr id="21" name="TextBox 20"/>
          <p:cNvSpPr txBox="1"/>
          <p:nvPr/>
        </p:nvSpPr>
        <p:spPr>
          <a:xfrm>
            <a:off x="6210147"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University Management: reduced dropout rates, improved graduation rates and better educational planning informed by institution-wide risk statistics.</a:t>
            </a:r>
          </a:p>
        </p:txBody>
      </p:sp>
      <p:sp>
        <p:nvSpPr>
          <p:cNvPr id="22" name="TextBox 21"/>
          <p:cNvSpPr txBox="1"/>
          <p:nvPr/>
        </p:nvSpPr>
        <p:spPr>
          <a:xfrm>
            <a:off x="548640" y="30723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Researchers: a working reference implementation (preprocessing pipeline, trained model, evaluation harness and dashboards) for future AI applications in education.</a:t>
            </a:r>
          </a:p>
        </p:txBody>
      </p:sp>
      <p:sp>
        <p:nvSpPr>
          <p:cNvPr id="23" name="TextBox 22"/>
          <p:cNvSpPr txBox="1"/>
          <p:nvPr/>
        </p:nvSpPr>
        <p:spPr>
          <a:xfrm>
            <a:off x="6210147" y="30723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Unlike studies that stop at reporting model accuracy, this project delivers an end-to-end operational system coupling prediction with dashboards, alerts, intervention recommendations and intervention tracking.</a:t>
            </a:r>
          </a:p>
        </p:txBody>
      </p:sp>
      <p:sp>
        <p:nvSpPr>
          <p:cNvPr id="24" name="TextBox 23"/>
          <p:cNvSpPr txBox="1"/>
          <p:nvPr/>
        </p:nvSpPr>
        <p:spPr>
          <a:xfrm>
            <a:off x="548640" y="333298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1.6  Organization of the Study</a:t>
            </a:r>
          </a:p>
        </p:txBody>
      </p:sp>
      <p:sp>
        <p:nvSpPr>
          <p:cNvPr id="25" name="TextBox 24"/>
          <p:cNvSpPr txBox="1"/>
          <p:nvPr/>
        </p:nvSpPr>
        <p:spPr>
          <a:xfrm>
            <a:off x="6210147" y="3332987"/>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Five chapters: Ch1 introduces the study; Ch2 reviews literature; Ch3 presents methodology; Ch4 covers experimental results &amp; discussions; Ch5 presents conclusions, findings, recommendations, limitations and future work.</a:t>
            </a:r>
          </a:p>
        </p:txBody>
      </p:sp>
      <p:sp>
        <p:nvSpPr>
          <p:cNvPr id="26" name="Rectangle 25"/>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9" name="TextBox 28"/>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2</a:t>
            </a:r>
          </a:p>
        </p:txBody>
      </p:sp>
      <p:sp>
        <p:nvSpPr>
          <p:cNvPr id="5" name="Rounded Rectangle 4"/>
          <p:cNvSpPr/>
          <p:nvPr/>
        </p:nvSpPr>
        <p:spPr>
          <a:xfrm>
            <a:off x="5537016" y="384048"/>
            <a:ext cx="111766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7016" y="384048"/>
            <a:ext cx="111766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2.1  |  2.2</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2412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700"/>
              </a:spcAft>
            </a:pPr>
            <a:r>
              <a:rPr sz="1350" b="1">
                <a:solidFill>
                  <a:srgbClr val="F2CF86"/>
                </a:solidFill>
                <a:latin typeface="Calibri"/>
              </a:rPr>
              <a:t>2.1  Introduction</a:t>
            </a:r>
          </a:p>
        </p:txBody>
      </p:sp>
      <p:sp>
        <p:nvSpPr>
          <p:cNvPr id="9" name="TextBox 8"/>
          <p:cNvSpPr txBox="1"/>
          <p:nvPr/>
        </p:nvSpPr>
        <p:spPr>
          <a:xfrm>
            <a:off x="640080" y="129844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This chapter reviews previous studies on Artificial Intelligence, Machine Learning, Educational Data Mining, Learning Analytics and academic performance prediction systems.</a:t>
            </a:r>
          </a:p>
        </p:txBody>
      </p:sp>
      <p:sp>
        <p:nvSpPr>
          <p:cNvPr id="10" name="TextBox 9"/>
          <p:cNvSpPr txBox="1"/>
          <p:nvPr/>
        </p:nvSpPr>
        <p:spPr>
          <a:xfrm>
            <a:off x="640080" y="180136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It establishes the theoretical foundation of the study, summarises approaches reported in the literature, identifies existing systems and their limitations, and locates the research gap this project addresses.</a:t>
            </a:r>
          </a:p>
        </p:txBody>
      </p:sp>
      <p:sp>
        <p:nvSpPr>
          <p:cNvPr id="11" name="TextBox 10"/>
          <p:cNvSpPr txBox="1"/>
          <p:nvPr/>
        </p:nvSpPr>
        <p:spPr>
          <a:xfrm>
            <a:off x="640080" y="230428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700"/>
              </a:spcAft>
            </a:pPr>
            <a:r>
              <a:rPr sz="1350" b="1">
                <a:solidFill>
                  <a:srgbClr val="F2CF86"/>
                </a:solidFill>
                <a:latin typeface="Calibri"/>
              </a:rPr>
              <a:t>2.2  Artificial Intelligence in Education</a:t>
            </a:r>
          </a:p>
        </p:txBody>
      </p:sp>
      <p:sp>
        <p:nvSpPr>
          <p:cNvPr id="12" name="TextBox 11"/>
          <p:cNvSpPr txBox="1"/>
          <p:nvPr/>
        </p:nvSpPr>
        <p:spPr>
          <a:xfrm>
            <a:off x="640080" y="257860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Artificial Intelligence refers to computer systems capable of performing tasks that normally require human intelligence, such as learning, reasoning, prediction and decision-making (Bishop, 2006).</a:t>
            </a:r>
          </a:p>
        </p:txBody>
      </p:sp>
      <p:sp>
        <p:nvSpPr>
          <p:cNvPr id="13" name="TextBox 12"/>
          <p:cNvSpPr txBox="1"/>
          <p:nvPr/>
        </p:nvSpPr>
        <p:spPr>
          <a:xfrm>
            <a:off x="640080" y="308152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AI has been applied in education for several decades, from intelligent tutoring systems to automated assessment and institutional analytics.</a:t>
            </a:r>
          </a:p>
        </p:txBody>
      </p:sp>
      <p:sp>
        <p:nvSpPr>
          <p:cNvPr id="14" name="TextBox 13"/>
          <p:cNvSpPr txBox="1"/>
          <p:nvPr/>
        </p:nvSpPr>
        <p:spPr>
          <a:xfrm>
            <a:off x="640080" y="358444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Holmes et al. (2019) describe AI in education as encompassing systems that adapt to learners, support teachers with data-driven insight and inform policy.</a:t>
            </a:r>
          </a:p>
        </p:txBody>
      </p:sp>
      <p:sp>
        <p:nvSpPr>
          <p:cNvPr id="15" name="TextBox 14"/>
          <p:cNvSpPr txBox="1"/>
          <p:nvPr/>
        </p:nvSpPr>
        <p:spPr>
          <a:xfrm>
            <a:off x="640080" y="408736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Luckin et al. (2016) argue that the value of AI in education lies in augmenting educators’ judgement rather than replacing it.</a:t>
            </a:r>
          </a:p>
        </p:txBody>
      </p:sp>
      <p:sp>
        <p:nvSpPr>
          <p:cNvPr id="16" name="TextBox 15"/>
          <p:cNvSpPr txBox="1"/>
          <p:nvPr/>
        </p:nvSpPr>
        <p:spPr>
          <a:xfrm>
            <a:off x="640080" y="459028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Zawacki-Richter et al. (2019), in a systematic review of AI applications in higher education, identify four application areas: (1) learner modelling &amp; profiling; (2) intelligent tutoring &amp; recommendation; (3) assessment &amp; feedback; (4) administration &amp; retention analytics.</a:t>
            </a:r>
          </a:p>
        </p:txBody>
      </p:sp>
      <p:sp>
        <p:nvSpPr>
          <p:cNvPr id="17" name="TextBox 16"/>
          <p:cNvSpPr txBox="1"/>
          <p:nvPr/>
        </p:nvSpPr>
        <p:spPr>
          <a:xfrm>
            <a:off x="640080" y="532180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Student performance prediction belongs to the fourth area and is among the most widely deployed.</a:t>
            </a:r>
          </a:p>
        </p:txBody>
      </p:sp>
      <p:sp>
        <p:nvSpPr>
          <p:cNvPr id="18" name="Rectangle 17"/>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0" name="TextBox 19"/>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2</a:t>
            </a:r>
          </a:p>
        </p:txBody>
      </p:sp>
      <p:sp>
        <p:nvSpPr>
          <p:cNvPr id="5" name="Rounded Rectangle 4"/>
          <p:cNvSpPr/>
          <p:nvPr/>
        </p:nvSpPr>
        <p:spPr>
          <a:xfrm>
            <a:off x="4656906" y="384048"/>
            <a:ext cx="287788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56906" y="384048"/>
            <a:ext cx="287788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2.3  |  2.4  |  2.5  |  2.6  |  2.7</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2.3  Machine Learning</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Machine Learning is a branch of AI in which computers learn patterns from historical data rather than following explicitly programmed rules (James et al., 2013).</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Given past student records with known outcomes, an ML algorithm learns a mapping from input features (attendance, assessments, prior attainment) to an output (future performance band), which can then be applied to new, unseen students.</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Common algorithms in educational prediction:</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Decision Tree — interpretable rule-like splits, but prone to overfitting;</a:t>
            </a:r>
          </a:p>
        </p:txBody>
      </p:sp>
      <p:sp>
        <p:nvSpPr>
          <p:cNvPr id="13" name="TextBox 12"/>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Random Forest — ensemble of decision trees (Breiman, 2001), generally accurate and robust;</a:t>
            </a:r>
          </a:p>
        </p:txBody>
      </p:sp>
      <p:sp>
        <p:nvSpPr>
          <p:cNvPr id="14" name="TextBox 13"/>
          <p:cNvSpPr txBox="1"/>
          <p:nvPr/>
        </p:nvSpPr>
        <p:spPr>
          <a:xfrm>
            <a:off x="548640"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Logistic Regression — a linear probabilistic baseline, fast and interpretable;</a:t>
            </a:r>
          </a:p>
        </p:txBody>
      </p:sp>
      <p:sp>
        <p:nvSpPr>
          <p:cNvPr id="15" name="TextBox 14"/>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Naïve Bayes — probabilistic classifier effective with small data (Kotsiantis et al., 2004);</a:t>
            </a:r>
          </a:p>
        </p:txBody>
      </p:sp>
      <p:sp>
        <p:nvSpPr>
          <p:cNvPr id="16" name="TextBox 15"/>
          <p:cNvSpPr txBox="1"/>
          <p:nvPr/>
        </p:nvSpPr>
        <p:spPr>
          <a:xfrm>
            <a:off x="548640"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Support Vector Machine (SVM) — maximum-margin classification effective in high-dimensional spaces (Vapnik, 1998);</a:t>
            </a:r>
          </a:p>
        </p:txBody>
      </p:sp>
      <p:sp>
        <p:nvSpPr>
          <p:cNvPr id="17" name="TextBox 16"/>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Neural Networks — non-linear models capturing complex interactions at the cost of data and tuning.</a:t>
            </a:r>
          </a:p>
        </p:txBody>
      </p:sp>
      <p:sp>
        <p:nvSpPr>
          <p:cNvPr id="18" name="TextBox 17"/>
          <p:cNvSpPr txBox="1"/>
          <p:nvPr/>
        </p:nvSpPr>
        <p:spPr>
          <a:xfrm>
            <a:off x="548640" y="2345435"/>
            <a:ext cx="5277459" cy="699516"/>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Random Forest is selected as primary: performs well on educational tabular data, handles many features, resists overfitting via bagging, supports class weighting for imbalanced bands, and provides feature-importance for explainability (Breiman, 2001; Scikit-learn, Pedregosa et al., 2011).</a:t>
            </a:r>
          </a:p>
        </p:txBody>
      </p:sp>
      <p:sp>
        <p:nvSpPr>
          <p:cNvPr id="19" name="TextBox 18"/>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2.4  Educational Data Mining</a:t>
            </a:r>
          </a:p>
        </p:txBody>
      </p:sp>
      <p:sp>
        <p:nvSpPr>
          <p:cNvPr id="20" name="TextBox 19"/>
          <p:cNvSpPr txBox="1"/>
          <p:nvPr/>
        </p:nvSpPr>
        <p:spPr>
          <a:xfrm>
            <a:off x="6210147" y="2606039"/>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EDM extracts useful knowledge from educational datasets using statistical, machine-learning and visualisation techniques (Romero &amp; Ventura, 2010; Romero et al., 2010).</a:t>
            </a:r>
          </a:p>
        </p:txBody>
      </p:sp>
      <p:sp>
        <p:nvSpPr>
          <p:cNvPr id="21" name="TextBox 20"/>
          <p:cNvSpPr txBox="1"/>
          <p:nvPr/>
        </p:nvSpPr>
        <p:spPr>
          <a:xfrm>
            <a:off x="548640" y="3017519"/>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Typical student data: attendance; assignment scores; quiz scores; continuous assessment; previous GPA; examination scores; course registration; demographic information.</a:t>
            </a:r>
          </a:p>
        </p:txBody>
      </p:sp>
      <p:sp>
        <p:nvSpPr>
          <p:cNvPr id="22" name="TextBox 21"/>
          <p:cNvSpPr txBox="1"/>
          <p:nvPr/>
        </p:nvSpPr>
        <p:spPr>
          <a:xfrm>
            <a:off x="6210147" y="30723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Romero and Ventura (2010) taxonomise EDM tasks as prediction, clustering, relationship mining, distillation and discovery with visualisation.</a:t>
            </a:r>
          </a:p>
        </p:txBody>
      </p:sp>
      <p:sp>
        <p:nvSpPr>
          <p:cNvPr id="23" name="TextBox 22"/>
          <p:cNvSpPr txBox="1"/>
          <p:nvPr/>
        </p:nvSpPr>
        <p:spPr>
          <a:xfrm>
            <a:off x="6210147" y="333298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Student performance prediction is a prediction task: the target is typically course completion, final grade or GPA.</a:t>
            </a:r>
          </a:p>
        </p:txBody>
      </p:sp>
      <p:sp>
        <p:nvSpPr>
          <p:cNvPr id="24" name="TextBox 23"/>
          <p:cNvSpPr txBox="1"/>
          <p:nvPr/>
        </p:nvSpPr>
        <p:spPr>
          <a:xfrm>
            <a:off x="548640" y="3483863"/>
            <a:ext cx="5277459" cy="699516"/>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Early studies used Naïve Bayes on distance-learning data (Kotsiantis et al., 2004); ensemble methods such as Random Forest frequently outperform single learners on tabular educational data while remaining interpretable through feature importance (Larose, 2014).</a:t>
            </a:r>
          </a:p>
        </p:txBody>
      </p:sp>
      <p:sp>
        <p:nvSpPr>
          <p:cNvPr id="25" name="TextBox 24"/>
          <p:cNvSpPr txBox="1"/>
          <p:nvPr/>
        </p:nvSpPr>
        <p:spPr>
          <a:xfrm>
            <a:off x="6210147" y="3593591"/>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Recurring finding: performance is multi-factorial — prior attainment, assessment engagement and attendance are consistently among the strongest predictors; demographic variables contribute comparatively little (Romero &amp; Ventura, 2010).</a:t>
            </a:r>
          </a:p>
        </p:txBody>
      </p:sp>
      <p:sp>
        <p:nvSpPr>
          <p:cNvPr id="26" name="TextBox 25"/>
          <p:cNvSpPr txBox="1"/>
          <p:nvPr/>
        </p:nvSpPr>
        <p:spPr>
          <a:xfrm>
            <a:off x="6210147" y="40599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2.5  Learning Analytics</a:t>
            </a:r>
          </a:p>
        </p:txBody>
      </p:sp>
      <p:sp>
        <p:nvSpPr>
          <p:cNvPr id="27" name="TextBox 26"/>
          <p:cNvSpPr txBox="1"/>
          <p:nvPr/>
        </p:nvSpPr>
        <p:spPr>
          <a:xfrm>
            <a:off x="548640" y="41559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Learning Analytics involves collecting, measuring, analysing and reporting data about learners and their contexts to understand and optimise learning (Siemens &amp; Long, 2011).</a:t>
            </a:r>
          </a:p>
        </p:txBody>
      </p:sp>
      <p:sp>
        <p:nvSpPr>
          <p:cNvPr id="28" name="TextBox 27"/>
          <p:cNvSpPr txBox="1"/>
          <p:nvPr/>
        </p:nvSpPr>
        <p:spPr>
          <a:xfrm>
            <a:off x="6210147" y="43205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Reported benefits: early intervention; personalised learning; improved retention; better decision-making.</a:t>
            </a:r>
          </a:p>
        </p:txBody>
      </p:sp>
      <p:sp>
        <p:nvSpPr>
          <p:cNvPr id="29" name="TextBox 28"/>
          <p:cNvSpPr txBox="1"/>
          <p:nvPr/>
        </p:nvSpPr>
        <p:spPr>
          <a:xfrm>
            <a:off x="548640" y="441655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Pena-Ayala (2014): most effective when predictions are embedded in the workflow of those who act on them — dashboards, alerts and recommendations — rather than delivered as standalone statistics.</a:t>
            </a:r>
          </a:p>
        </p:txBody>
      </p:sp>
      <p:sp>
        <p:nvSpPr>
          <p:cNvPr id="30" name="TextBox 29"/>
          <p:cNvSpPr txBox="1"/>
          <p:nvPr/>
        </p:nvSpPr>
        <p:spPr>
          <a:xfrm>
            <a:off x="6210147" y="45811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This design principle directly shapes the present project: predictions are surfaced on role-specific dashboards, ranked alerts and per-student recommendation lists, and each prediction can be converted into a tracked intervention record.</a:t>
            </a:r>
          </a:p>
        </p:txBody>
      </p:sp>
      <p:sp>
        <p:nvSpPr>
          <p:cNvPr id="31" name="TextBox 30"/>
          <p:cNvSpPr txBox="1"/>
          <p:nvPr/>
        </p:nvSpPr>
        <p:spPr>
          <a:xfrm>
            <a:off x="548640" y="467715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2.6  Existing Systems</a:t>
            </a:r>
          </a:p>
        </p:txBody>
      </p:sp>
      <p:sp>
        <p:nvSpPr>
          <p:cNvPr id="32" name="TextBox 31"/>
          <p:cNvSpPr txBox="1"/>
          <p:nvPr/>
        </p:nvSpPr>
        <p:spPr>
          <a:xfrm>
            <a:off x="6210147" y="48417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Many universities use Student Information Systems (SIS) that store student records but lack predictive capability.</a:t>
            </a:r>
          </a:p>
        </p:txBody>
      </p:sp>
      <p:sp>
        <p:nvSpPr>
          <p:cNvPr id="33" name="TextBox 32"/>
          <p:cNvSpPr txBox="1"/>
          <p:nvPr/>
        </p:nvSpPr>
        <p:spPr>
          <a:xfrm>
            <a:off x="548640" y="493775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Existing AI systems mainly focus on: dropout prediction; GPA prediction; course recommendation.</a:t>
            </a:r>
          </a:p>
        </p:txBody>
      </p:sp>
      <p:sp>
        <p:nvSpPr>
          <p:cNvPr id="34" name="TextBox 33"/>
          <p:cNvSpPr txBox="1"/>
          <p:nvPr/>
        </p:nvSpPr>
        <p:spPr>
          <a:xfrm>
            <a:off x="6210147" y="510235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Commercial early-alert modules of learning-management systems provide threshold-based alerts (e.g. grade below a cut-off or attendance below a percentage) but these are simple rules rather than learned models.</a:t>
            </a:r>
          </a:p>
        </p:txBody>
      </p:sp>
      <p:sp>
        <p:nvSpPr>
          <p:cNvPr id="35" name="TextBox 34"/>
          <p:cNvSpPr txBox="1"/>
          <p:nvPr/>
        </p:nvSpPr>
        <p:spPr>
          <a:xfrm>
            <a:off x="548640" y="519836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They rarely combine multiple weak indicators into a single calibrated risk probability (Siemens &amp; Long, 2011).</a:t>
            </a:r>
          </a:p>
        </p:txBody>
      </p:sp>
      <p:sp>
        <p:nvSpPr>
          <p:cNvPr id="36" name="TextBox 35"/>
          <p:cNvSpPr txBox="1"/>
          <p:nvPr/>
        </p:nvSpPr>
        <p:spPr>
          <a:xfrm>
            <a:off x="6210147" y="5362955"/>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Few systems integrate prediction with advisor dashboards and intervention recommendations; fewer still record what intervention was actually delivered, closing no feedback loop for the institution.</a:t>
            </a:r>
          </a:p>
        </p:txBody>
      </p:sp>
      <p:sp>
        <p:nvSpPr>
          <p:cNvPr id="37" name="TextBox 36"/>
          <p:cNvSpPr txBox="1"/>
          <p:nvPr/>
        </p:nvSpPr>
        <p:spPr>
          <a:xfrm>
            <a:off x="548640" y="545896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2.7  Research Gap</a:t>
            </a:r>
          </a:p>
        </p:txBody>
      </p:sp>
      <p:sp>
        <p:nvSpPr>
          <p:cNvPr id="38" name="TextBox 37"/>
          <p:cNvSpPr txBox="1"/>
          <p:nvPr/>
        </p:nvSpPr>
        <p:spPr>
          <a:xfrm>
            <a:off x="548640" y="5719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Most existing systems exhibit these shortcomings:</a:t>
            </a:r>
          </a:p>
        </p:txBody>
      </p:sp>
      <p:sp>
        <p:nvSpPr>
          <p:cNvPr id="39" name="TextBox 38"/>
          <p:cNvSpPr txBox="1"/>
          <p:nvPr/>
        </p:nvSpPr>
        <p:spPr>
          <a:xfrm>
            <a:off x="6210147" y="582929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1.  No early-intervention alerts tied to concrete recommended actions.</a:t>
            </a:r>
          </a:p>
        </p:txBody>
      </p:sp>
      <p:sp>
        <p:nvSpPr>
          <p:cNvPr id="40" name="Rectangle 39"/>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43" name="TextBox 42"/>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3</a:t>
            </a:r>
          </a:p>
        </p:txBody>
      </p:sp>
      <p:sp>
        <p:nvSpPr>
          <p:cNvPr id="5" name="Rounded Rectangle 4"/>
          <p:cNvSpPr/>
          <p:nvPr/>
        </p:nvSpPr>
        <p:spPr>
          <a:xfrm>
            <a:off x="5537016" y="384048"/>
            <a:ext cx="111766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7016" y="384048"/>
            <a:ext cx="111766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3.1  |  3.2</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2412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700"/>
              </a:spcAft>
            </a:pPr>
            <a:r>
              <a:rPr sz="1350" b="1">
                <a:solidFill>
                  <a:srgbClr val="F2CF86"/>
                </a:solidFill>
                <a:latin typeface="Calibri"/>
              </a:rPr>
              <a:t>3.1  Research Design</a:t>
            </a:r>
          </a:p>
        </p:txBody>
      </p:sp>
      <p:sp>
        <p:nvSpPr>
          <p:cNvPr id="9" name="TextBox 8"/>
          <p:cNvSpPr txBox="1"/>
          <p:nvPr/>
        </p:nvSpPr>
        <p:spPr>
          <a:xfrm>
            <a:off x="640080" y="129844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The project adopts the Design and Development Research methodology (Plomp, 2013): an artefact is constructed and evaluated to solve an identified practical problem.</a:t>
            </a:r>
          </a:p>
        </p:txBody>
      </p:sp>
      <p:sp>
        <p:nvSpPr>
          <p:cNvPr id="10" name="TextBox 9"/>
          <p:cNvSpPr txBox="1"/>
          <p:nvPr/>
        </p:nvSpPr>
        <p:spPr>
          <a:xfrm>
            <a:off x="640080" y="180136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Stages: (1) requirement gathering; (2) data collection; (3) data preprocessing; (4) machine learning model development; (5) system development; (6) testing; (7) evaluation.</a:t>
            </a:r>
          </a:p>
        </p:txBody>
      </p:sp>
      <p:sp>
        <p:nvSpPr>
          <p:cNvPr id="11" name="TextBox 10"/>
          <p:cNvSpPr txBox="1"/>
          <p:nvPr/>
        </p:nvSpPr>
        <p:spPr>
          <a:xfrm>
            <a:off x="640080" y="230428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Each stage produced an artefact or report that fed the next: requirements were captured as functional &amp; non-functional specifications; data collection produced the analysis dataset; preprocessing produced a clean modelling table; modelling produced &amp; compared five classifiers; system development produced the web application; testing/evaluation are reported in Chapter Four.</a:t>
            </a:r>
          </a:p>
        </p:txBody>
      </p:sp>
      <p:sp>
        <p:nvSpPr>
          <p:cNvPr id="12" name="TextBox 11"/>
          <p:cNvSpPr txBox="1"/>
          <p:nvPr/>
        </p:nvSpPr>
        <p:spPr>
          <a:xfrm>
            <a:off x="640080" y="326440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700"/>
              </a:spcAft>
            </a:pPr>
            <a:r>
              <a:rPr sz="1350" b="1">
                <a:solidFill>
                  <a:srgbClr val="F2CF86"/>
                </a:solidFill>
                <a:latin typeface="Calibri"/>
              </a:rPr>
              <a:t>3.2  System Architecture</a:t>
            </a:r>
          </a:p>
        </p:txBody>
      </p:sp>
      <p:sp>
        <p:nvSpPr>
          <p:cNvPr id="13" name="TextBox 12"/>
          <p:cNvSpPr txBox="1"/>
          <p:nvPr/>
        </p:nvSpPr>
        <p:spPr>
          <a:xfrm>
            <a:off x="640080" y="353872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The system is a three-tier web application:</a:t>
            </a:r>
          </a:p>
        </p:txBody>
      </p:sp>
      <p:sp>
        <p:nvSpPr>
          <p:cNvPr id="14" name="TextBox 13"/>
          <p:cNvSpPr txBox="1"/>
          <p:nvPr/>
        </p:nvSpPr>
        <p:spPr>
          <a:xfrm>
            <a:off x="640080" y="381304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  Presentation tier: Bootstrap 5 templates and Chart.js rendered by Flask, plus a JSON API for programmatic access (/api/*).</a:t>
            </a:r>
          </a:p>
        </p:txBody>
      </p:sp>
      <p:sp>
        <p:nvSpPr>
          <p:cNvPr id="15" name="TextBox 14"/>
          <p:cNvSpPr txBox="1"/>
          <p:nvPr/>
        </p:nvSpPr>
        <p:spPr>
          <a:xfrm>
            <a:off x="640080" y="431596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  Application tier: Flask blueprints handling authentication, uploads, prediction, reporting and administration.</a:t>
            </a:r>
          </a:p>
        </p:txBody>
      </p:sp>
      <p:sp>
        <p:nvSpPr>
          <p:cNvPr id="16" name="TextBox 15"/>
          <p:cNvSpPr txBox="1"/>
          <p:nvPr/>
        </p:nvSpPr>
        <p:spPr>
          <a:xfrm>
            <a:off x="640080" y="459028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  Data tier: SQLAlchemy ORM over SQLite for development and MySQL for production.</a:t>
            </a:r>
          </a:p>
        </p:txBody>
      </p:sp>
      <p:sp>
        <p:nvSpPr>
          <p:cNvPr id="17" name="TextBox 16"/>
          <p:cNvSpPr txBox="1"/>
          <p:nvPr/>
        </p:nvSpPr>
        <p:spPr>
          <a:xfrm>
            <a:off x="640080" y="486460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The ML service is a separate module that owns preprocessing, training, inference and explanation, so the model can be retrained or replaced without touching the web layer.</a:t>
            </a:r>
          </a:p>
        </p:txBody>
      </p:sp>
      <p:sp>
        <p:nvSpPr>
          <p:cNvPr id="18" name="TextBox 17"/>
          <p:cNvSpPr txBox="1"/>
          <p:nvPr/>
        </p:nvSpPr>
        <p:spPr>
          <a:xfrm>
            <a:off x="640080" y="5367528"/>
            <a:ext cx="10927080" cy="457200"/>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50">
                <a:solidFill>
                  <a:srgbClr val="E2E8F2"/>
                </a:solidFill>
                <a:latin typeface="Calibri"/>
              </a:rPr>
              <a:t>Figure 1 shows the three-tier architecture; Figure 2 shows the end-to-end workflow: Student Records → Data Cleaning → Feature Extraction → AI Model (Random Forest) → Prediction → Low/Medium/High Risk → Advisor Alert → Academic Intervention.</a:t>
            </a:r>
          </a:p>
        </p:txBody>
      </p:sp>
      <p:sp>
        <p:nvSpPr>
          <p:cNvPr id="19" name="Rectangle 18"/>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1" name="TextBox 20"/>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3</a:t>
            </a:r>
          </a:p>
        </p:txBody>
      </p:sp>
      <p:sp>
        <p:nvSpPr>
          <p:cNvPr id="5" name="Rounded Rectangle 4"/>
          <p:cNvSpPr/>
          <p:nvPr/>
        </p:nvSpPr>
        <p:spPr>
          <a:xfrm>
            <a:off x="5243646" y="384048"/>
            <a:ext cx="170440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43646" y="384048"/>
            <a:ext cx="170440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3.3  |  3.4  |  3.5</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3.3  Data Collection</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Student records contain 15 attributes (Table 1 in the thesis):</a:t>
            </a:r>
          </a:p>
        </p:txBody>
      </p:sp>
      <p:sp>
        <p:nvSpPr>
          <p:cNvPr id="10" name="TextBox 9"/>
          <p:cNvSpPr txBox="1"/>
          <p:nvPr/>
        </p:nvSpPr>
        <p:spPr>
          <a:xfrm>
            <a:off x="548640" y="1303019"/>
            <a:ext cx="5277459" cy="868680"/>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Student ID (text) — unique matriculation number;   •  Programme (categorical) — degree programme;   •  Department (categorical) — owning department;   •  Gender (categorical) — Male/Female/Other;   •  Age (integer) — student age in years;   •  Previous GPA (float, 0–4) — cumulative GPA before the semester;   •  Attendance % (float, 0–100);   •  Assignment score (0–100);   •  Quiz score (0–100);   •  Mid-semester score (0–100);   •  Continuous assessment (0–100);   •  Study hours (float);   •  Examination score / Final score / Final GPA — outcomes, ground truth only.</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Data may be obtained from the university’s academic records with appropriate authorization or from publicly available educational datasets.</a:t>
            </a:r>
          </a:p>
        </p:txBody>
      </p:sp>
      <p:sp>
        <p:nvSpPr>
          <p:cNvPr id="12" name="TextBox 11"/>
          <p:cNvSpPr txBox="1"/>
          <p:nvPr/>
        </p:nvSpPr>
        <p:spPr>
          <a:xfrm>
            <a:off x="6210147" y="1563623"/>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Because institutional records were not available during development, the project used a reproducible synthetic cohort of 2,550 student records whose statistical relationships mirror published findings, with deliberately injected missing values (≈3% per numeric field) and duplicate rows (≈2%) so the cleaning pipeline is exercised end-to-end.</a:t>
            </a:r>
          </a:p>
        </p:txBody>
      </p:sp>
      <p:sp>
        <p:nvSpPr>
          <p:cNvPr id="13" name="TextBox 12"/>
          <p:cNvSpPr txBox="1"/>
          <p:nvPr/>
        </p:nvSpPr>
        <p:spPr>
          <a:xfrm>
            <a:off x="6210147" y="202996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3.4  Data Preprocessing</a:t>
            </a:r>
          </a:p>
        </p:txBody>
      </p:sp>
      <p:sp>
        <p:nvSpPr>
          <p:cNvPr id="14" name="TextBox 13"/>
          <p:cNvSpPr txBox="1"/>
          <p:nvPr/>
        </p:nvSpPr>
        <p:spPr>
          <a:xfrm>
            <a:off x="6210147" y="2290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preprocessing stage performs, in order:</a:t>
            </a:r>
          </a:p>
        </p:txBody>
      </p:sp>
      <p:sp>
        <p:nvSpPr>
          <p:cNvPr id="15" name="TextBox 14"/>
          <p:cNvSpPr txBox="1"/>
          <p:nvPr/>
        </p:nvSpPr>
        <p:spPr>
          <a:xfrm>
            <a:off x="548640" y="23865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1. Column normalisation &amp; aliasing — headers lower-cased and mapped to canonical schema (e.g. Attendance → attendance_pct, Matric No → student_id, CA → continuous_assessment).</a:t>
            </a:r>
          </a:p>
        </p:txBody>
      </p:sp>
      <p:sp>
        <p:nvSpPr>
          <p:cNvPr id="16" name="TextBox 15"/>
          <p:cNvSpPr txBox="1"/>
          <p:nvPr/>
        </p:nvSpPr>
        <p:spPr>
          <a:xfrm>
            <a:off x="6210147"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2. Removing duplicate records — exact duplicate rows dropped.</a:t>
            </a:r>
          </a:p>
        </p:txBody>
      </p:sp>
      <p:sp>
        <p:nvSpPr>
          <p:cNvPr id="17" name="TextBox 16"/>
          <p:cNvSpPr txBox="1"/>
          <p:nvPr/>
        </p:nvSpPr>
        <p:spPr>
          <a:xfrm>
            <a:off x="548640" y="2647187"/>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3. Type coercion &amp; range validation — numeric fields parsed numerically; out-of-range values (attendance &gt;100, GPA &gt;4, age &lt;15) treated as missing rather than trusted.</a:t>
            </a:r>
          </a:p>
        </p:txBody>
      </p:sp>
      <p:sp>
        <p:nvSpPr>
          <p:cNvPr id="18" name="TextBox 17"/>
          <p:cNvSpPr txBox="1"/>
          <p:nvPr/>
        </p:nvSpPr>
        <p:spPr>
          <a:xfrm>
            <a:off x="6210147"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4. Handling missing values — numeric fields median-imputed, categorical fields mode-imputed (Larose, 2014).</a:t>
            </a:r>
          </a:p>
        </p:txBody>
      </p:sp>
      <p:sp>
        <p:nvSpPr>
          <p:cNvPr id="19" name="TextBox 18"/>
          <p:cNvSpPr txBox="1"/>
          <p:nvPr/>
        </p:nvSpPr>
        <p:spPr>
          <a:xfrm>
            <a:off x="6210147" y="30723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5. Data normalization — numeric features standardised (zero mean, unit variance) inside the pipeline so training &amp; inference apply identical transforms.</a:t>
            </a:r>
          </a:p>
        </p:txBody>
      </p:sp>
      <p:sp>
        <p:nvSpPr>
          <p:cNvPr id="20" name="TextBox 19"/>
          <p:cNvSpPr txBox="1"/>
          <p:nvPr/>
        </p:nvSpPr>
        <p:spPr>
          <a:xfrm>
            <a:off x="548640" y="31135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6. Encoding categorical variables — programme, department, gender one-hot encoded with handle_unknown='ignore' so unseen categories at inference don’t break prediction.</a:t>
            </a:r>
          </a:p>
        </p:txBody>
      </p:sp>
      <p:sp>
        <p:nvSpPr>
          <p:cNvPr id="21" name="TextBox 20"/>
          <p:cNvSpPr txBox="1"/>
          <p:nvPr/>
        </p:nvSpPr>
        <p:spPr>
          <a:xfrm>
            <a:off x="6210147" y="333298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7. Feature selection — 11 pre-examination features retained; outcome columns excluded from inputs to prevent target leakage.</a:t>
            </a:r>
          </a:p>
        </p:txBody>
      </p:sp>
      <p:sp>
        <p:nvSpPr>
          <p:cNvPr id="22" name="TextBox 21"/>
          <p:cNvSpPr txBox="1"/>
          <p:nvPr/>
        </p:nvSpPr>
        <p:spPr>
          <a:xfrm>
            <a:off x="548640" y="33741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Steps 5–7 are one scikit-learn ColumnTransformer inside the model pipeline, guaranteeing the exact transformations used in training are replayed at inference.</a:t>
            </a:r>
          </a:p>
        </p:txBody>
      </p:sp>
      <p:sp>
        <p:nvSpPr>
          <p:cNvPr id="23" name="TextBox 22"/>
          <p:cNvSpPr txBox="1"/>
          <p:nvPr/>
        </p:nvSpPr>
        <p:spPr>
          <a:xfrm>
            <a:off x="6210147" y="359359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3.5  Feature Selection and Target Definition</a:t>
            </a:r>
          </a:p>
        </p:txBody>
      </p:sp>
      <p:sp>
        <p:nvSpPr>
          <p:cNvPr id="24" name="TextBox 23"/>
          <p:cNvSpPr txBox="1"/>
          <p:nvPr/>
        </p:nvSpPr>
        <p:spPr>
          <a:xfrm>
            <a:off x="548640" y="36347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modelling contract separates predictors (available mid-semester) from outcomes (available only after the examination).</a:t>
            </a:r>
          </a:p>
        </p:txBody>
      </p:sp>
      <p:sp>
        <p:nvSpPr>
          <p:cNvPr id="25" name="TextBox 24"/>
          <p:cNvSpPr txBox="1"/>
          <p:nvPr/>
        </p:nvSpPr>
        <p:spPr>
          <a:xfrm>
            <a:off x="6210147" y="385419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Predictors (11): age, previous_gpa, attendance_pct, assignment_score, quiz_score, mid_sem_score, continuous_assessment, study_hours, programme, department, gender.</a:t>
            </a:r>
          </a:p>
        </p:txBody>
      </p:sp>
      <p:sp>
        <p:nvSpPr>
          <p:cNvPr id="26" name="TextBox 25"/>
          <p:cNvSpPr txBox="1"/>
          <p:nvPr/>
        </p:nvSpPr>
        <p:spPr>
          <a:xfrm>
            <a:off x="548640" y="38953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Target: a three-level academic risk band derived from the final score (Table 2):</a:t>
            </a:r>
          </a:p>
        </p:txBody>
      </p:sp>
      <p:sp>
        <p:nvSpPr>
          <p:cNvPr id="27" name="TextBox 26"/>
          <p:cNvSpPr txBox="1"/>
          <p:nvPr/>
        </p:nvSpPr>
        <p:spPr>
          <a:xfrm>
            <a:off x="6210147" y="4114799"/>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Low Risk — final score ≥70 (on track / likely to excel);   •  Medium Risk — final score 50–69.99 (moderate; watch-list);   •  High Risk — final score &lt;50 (at risk of failing; immediate intervention).</a:t>
            </a:r>
          </a:p>
        </p:txBody>
      </p:sp>
      <p:sp>
        <p:nvSpPr>
          <p:cNvPr id="28" name="TextBox 27"/>
          <p:cNvSpPr txBox="1"/>
          <p:nvPr/>
        </p:nvSpPr>
        <p:spPr>
          <a:xfrm>
            <a:off x="548640" y="41559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Examination score, final score and final GPA are used only as ground truth for training and evaluation.</a:t>
            </a:r>
          </a:p>
        </p:txBody>
      </p:sp>
      <p:sp>
        <p:nvSpPr>
          <p:cNvPr id="29" name="TextBox 28"/>
          <p:cNvSpPr txBox="1"/>
          <p:nvPr/>
        </p:nvSpPr>
        <p:spPr>
          <a:xfrm>
            <a:off x="548640" y="441655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Prediction is generated BEFORE the final examination, so the target is derived from outcomes while inputs are strictly pre-examination — the operational equivalent of forecasting the outcome from the mid-semester snapshot.</a:t>
            </a:r>
          </a:p>
        </p:txBody>
      </p:sp>
      <p:sp>
        <p:nvSpPr>
          <p:cNvPr id="30" name="Rectangle 29"/>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33" name="TextBox 32"/>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3</a:t>
            </a:r>
          </a:p>
        </p:txBody>
      </p:sp>
      <p:sp>
        <p:nvSpPr>
          <p:cNvPr id="5" name="Rounded Rectangle 4"/>
          <p:cNvSpPr/>
          <p:nvPr/>
        </p:nvSpPr>
        <p:spPr>
          <a:xfrm>
            <a:off x="5243646" y="384048"/>
            <a:ext cx="170440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43646" y="384048"/>
            <a:ext cx="170440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3.6  |  3.7  |  3.8</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3.6  Machine Learning Model</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Random Forest Classifier is used as the primary model. Reasons:</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High prediction accuracy on tabular educational data;</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Handles large datasets and many features efficiently;</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Resistant to overfitting via bagging and random feature subsets (Breiman, 2001);</a:t>
            </a:r>
          </a:p>
        </p:txBody>
      </p:sp>
      <p:sp>
        <p:nvSpPr>
          <p:cNvPr id="13" name="TextBox 12"/>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Class-weight balancing accommodates the smaller High-Risk band;</a:t>
            </a:r>
          </a:p>
        </p:txBody>
      </p:sp>
      <p:sp>
        <p:nvSpPr>
          <p:cNvPr id="14" name="TextBox 13"/>
          <p:cNvSpPr txBox="1"/>
          <p:nvPr/>
        </p:nvSpPr>
        <p:spPr>
          <a:xfrm>
            <a:off x="548640"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Native feature-importance analysis supports explainability to lecturers.</a:t>
            </a:r>
          </a:p>
        </p:txBody>
      </p:sp>
      <p:sp>
        <p:nvSpPr>
          <p:cNvPr id="15" name="TextBox 14"/>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Other models — Decision Tree, Logistic Regression, Naïve Bayes (Gaussian) and Support Vector Machine (RBF kernel, probability-calibrated) — are tested for comparison, following the baseline practice of James et al. (2013).</a:t>
            </a:r>
          </a:p>
        </p:txBody>
      </p:sp>
      <p:sp>
        <p:nvSpPr>
          <p:cNvPr id="16" name="TextBox 15"/>
          <p:cNvSpPr txBox="1"/>
          <p:nvPr/>
        </p:nvSpPr>
        <p:spPr>
          <a:xfrm>
            <a:off x="548640"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Experimental protocol: cleaned dataset split 80:20 (stratified, random seed 42) into 2,000 train / 500 hold-out.</a:t>
            </a:r>
          </a:p>
        </p:txBody>
      </p:sp>
      <p:sp>
        <p:nvSpPr>
          <p:cNvPr id="17" name="TextBox 16"/>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Each candidate additionally evaluated with 5-fold stratified cross-validation on the training set (mean F1 ± SD).</a:t>
            </a:r>
          </a:p>
        </p:txBody>
      </p:sp>
      <p:sp>
        <p:nvSpPr>
          <p:cNvPr id="18" name="TextBox 17"/>
          <p:cNvSpPr txBox="1"/>
          <p:nvPr/>
        </p:nvSpPr>
        <p:spPr>
          <a:xfrm>
            <a:off x="548640" y="2345435"/>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model with the highest cross-validated F1 is selected (more robust to sampling noise than a single test-split score), refitted on training data, evaluated once on hold-out, and persisted with its preprocessing pipeline, cohort statistics and feature importances as model.joblib, alongside metrics.json and evaluation plots.</a:t>
            </a:r>
          </a:p>
        </p:txBody>
      </p:sp>
      <p:sp>
        <p:nvSpPr>
          <p:cNvPr id="19" name="TextBox 18"/>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3.7  System Development Tools</a:t>
            </a:r>
          </a:p>
        </p:txBody>
      </p:sp>
      <p:sp>
        <p:nvSpPr>
          <p:cNvPr id="20" name="TextBox 19"/>
          <p:cNvSpPr txBox="1"/>
          <p:nvPr/>
        </p:nvSpPr>
        <p:spPr>
          <a:xfrm>
            <a:off x="6210147"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system was built with (Table 3 in the thesis):</a:t>
            </a:r>
          </a:p>
        </p:txBody>
      </p:sp>
      <p:sp>
        <p:nvSpPr>
          <p:cNvPr id="21" name="TextBox 20"/>
          <p:cNvSpPr txBox="1"/>
          <p:nvPr/>
        </p:nvSpPr>
        <p:spPr>
          <a:xfrm>
            <a:off x="548640" y="2811779"/>
            <a:ext cx="5277459" cy="868680"/>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Python 3 — dominant language for ML and web back ends;   •  Flask 3 — lightweight, extensible, blueprint-based;   •  Flask-Login — session management &amp; RBAC;   •  Flask-WTF — server-side validation &amp; CSRF;   •  Bootstrap 5 + Chart.js — responsive UI &amp; dashboard charts;   •  MySQL (SQLite dev) — as specified for the institution;   •  SQLAlchemy (Flask-SQLAlchemy) — database-agnostic ORM;   •  scikit-learn, pandas, NumPy — modelling, preprocessing, evaluation;   •  Matplotlib — reproducible evaluation figures;   •  joblib — efficient persistence of fitted pipelines;   •  Waitress / Gunicorn (WSGI) — thread-safe deployment;   •  pytest — automated unit, integration &amp; system tests.</a:t>
            </a:r>
          </a:p>
        </p:txBody>
      </p:sp>
      <p:sp>
        <p:nvSpPr>
          <p:cNvPr id="22" name="TextBox 21"/>
          <p:cNvSpPr txBox="1"/>
          <p:nvPr/>
        </p:nvSpPr>
        <p:spPr>
          <a:xfrm>
            <a:off x="6210147"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3.8  System Workflow</a:t>
            </a:r>
          </a:p>
        </p:txBody>
      </p:sp>
      <p:sp>
        <p:nvSpPr>
          <p:cNvPr id="23" name="TextBox 22"/>
          <p:cNvSpPr txBox="1"/>
          <p:nvPr/>
        </p:nvSpPr>
        <p:spPr>
          <a:xfrm>
            <a:off x="6210147" y="31272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Operational workflow implemented by the system:</a:t>
            </a:r>
          </a:p>
        </p:txBody>
      </p:sp>
      <p:sp>
        <p:nvSpPr>
          <p:cNvPr id="24" name="TextBox 23"/>
          <p:cNvSpPr txBox="1"/>
          <p:nvPr/>
        </p:nvSpPr>
        <p:spPr>
          <a:xfrm>
            <a:off x="6210147" y="338785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1. Lecturer uploads student records (CSV) or enters a single student’s snapshot.</a:t>
            </a:r>
          </a:p>
        </p:txBody>
      </p:sp>
      <p:sp>
        <p:nvSpPr>
          <p:cNvPr id="25" name="TextBox 24"/>
          <p:cNvSpPr txBox="1"/>
          <p:nvPr/>
        </p:nvSpPr>
        <p:spPr>
          <a:xfrm>
            <a:off x="6210147" y="364845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2. System preprocesses data (deduplicate, validate, impute, encode).</a:t>
            </a:r>
          </a:p>
        </p:txBody>
      </p:sp>
      <p:sp>
        <p:nvSpPr>
          <p:cNvPr id="26" name="TextBox 25"/>
          <p:cNvSpPr txBox="1"/>
          <p:nvPr/>
        </p:nvSpPr>
        <p:spPr>
          <a:xfrm>
            <a:off x="6210147" y="390905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3. AI model analyses data and outputs calibrated class probabilities.</a:t>
            </a:r>
          </a:p>
        </p:txBody>
      </p:sp>
      <p:sp>
        <p:nvSpPr>
          <p:cNvPr id="27" name="TextBox 26"/>
          <p:cNvSpPr txBox="1"/>
          <p:nvPr/>
        </p:nvSpPr>
        <p:spPr>
          <a:xfrm>
            <a:off x="548640" y="41010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4. Performance prediction generated for every student.</a:t>
            </a:r>
          </a:p>
        </p:txBody>
      </p:sp>
      <p:sp>
        <p:nvSpPr>
          <p:cNvPr id="28" name="TextBox 27"/>
          <p:cNvSpPr txBox="1"/>
          <p:nvPr/>
        </p:nvSpPr>
        <p:spPr>
          <a:xfrm>
            <a:off x="6210147" y="416966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5. Students categorised as Low Risk, Medium Risk or High Risk.</a:t>
            </a:r>
          </a:p>
        </p:txBody>
      </p:sp>
      <p:sp>
        <p:nvSpPr>
          <p:cNvPr id="29" name="TextBox 28"/>
          <p:cNvSpPr txBox="1"/>
          <p:nvPr/>
        </p:nvSpPr>
        <p:spPr>
          <a:xfrm>
            <a:off x="548640" y="436168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6. Dashboard displays predictions, distributions and early-warning alerts.</a:t>
            </a:r>
          </a:p>
        </p:txBody>
      </p:sp>
      <p:sp>
        <p:nvSpPr>
          <p:cNvPr id="30" name="TextBox 29"/>
          <p:cNvSpPr txBox="1"/>
          <p:nvPr/>
        </p:nvSpPr>
        <p:spPr>
          <a:xfrm>
            <a:off x="6210147" y="443026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7. Academic advisors receive recommendations for intervention and record the action taken, closing the loop with tracked follow-up.</a:t>
            </a:r>
          </a:p>
        </p:txBody>
      </p:sp>
      <p:sp>
        <p:nvSpPr>
          <p:cNvPr id="31" name="TextBox 30"/>
          <p:cNvSpPr txBox="1"/>
          <p:nvPr/>
        </p:nvSpPr>
        <p:spPr>
          <a:xfrm>
            <a:off x="548640" y="462229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Figure 2 shows the end-to-end flow: Student Records → Data Cleaning → Feature Extraction → AI Model (Random Forest) → Prediction → Low Risk / Medium &amp; High Risk → Advisor Alert → Academic Intervention.</a:t>
            </a:r>
          </a:p>
        </p:txBody>
      </p:sp>
      <p:sp>
        <p:nvSpPr>
          <p:cNvPr id="32" name="Rectangle 31"/>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35" name="TextBox 34"/>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3</a:t>
            </a:r>
          </a:p>
        </p:txBody>
      </p:sp>
      <p:sp>
        <p:nvSpPr>
          <p:cNvPr id="5" name="Rounded Rectangle 4"/>
          <p:cNvSpPr/>
          <p:nvPr/>
        </p:nvSpPr>
        <p:spPr>
          <a:xfrm>
            <a:off x="4510221" y="384048"/>
            <a:ext cx="317125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10221" y="384048"/>
            <a:ext cx="317125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3.9  |  3.10  |  3.11  |  3.12  |  3.13</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3.9  Functional Requirements</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system shall (Table 4 in the thesis):</a:t>
            </a:r>
          </a:p>
        </p:txBody>
      </p:sp>
      <p:sp>
        <p:nvSpPr>
          <p:cNvPr id="10" name="TextBox 9"/>
          <p:cNvSpPr txBox="1"/>
          <p:nvPr/>
        </p:nvSpPr>
        <p:spPr>
          <a:xfrm>
            <a:off x="548640" y="1303019"/>
            <a:ext cx="5277459" cy="868680"/>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FR1  Allow secure login with username/password and role-based access (admin, lecturer, advisor);   FR2  Upload student data as validated CSV files (with downloadable template);   FR3  Predict academic performance for a single student via a web form;   FR4  Batch-predict every student in an uploaded dataset and store results;   FR5  Identify at-risk students and rank them by risk level and confidence;   FR6  Generate intervention recommendations from the factors driving each prediction;   FR7  Generate reports: risk distributions, departmental tables, CSV export, printable pages;   FR8  Display charts &amp; statistics (risk distribution, department comparison, model metrics);   FR9  Record &amp; track advisor interventions (action, notes, status) per student;   FR10  Manage user accounts (create users, assign roles) — administrator only;   FR11  Retrain the model and re-score all students — administrator only;   FR12  Expose a REST JSON API for all core operations.</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3.10  Non-Functional Requirements</a:t>
            </a:r>
          </a:p>
        </p:txBody>
      </p:sp>
      <p:sp>
        <p:nvSpPr>
          <p:cNvPr id="12" name="TextBox 11"/>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system shall meet (Table 5 in the thesis):</a:t>
            </a:r>
          </a:p>
        </p:txBody>
      </p:sp>
      <p:sp>
        <p:nvSpPr>
          <p:cNvPr id="13" name="TextBox 12"/>
          <p:cNvSpPr txBox="1"/>
          <p:nvPr/>
        </p:nvSpPr>
        <p:spPr>
          <a:xfrm>
            <a:off x="6210147" y="1824227"/>
            <a:ext cx="5277459" cy="868680"/>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NFR1  Fast response time — prediction &lt;1 s; dashboard pages &lt;2 s;   NFR2  High accuracy — ≥70% held-out accuracy (acceptance gate enforced at training time);   NFR3  Secure authentication — hashed passwords, CSRF protection, session hardening, role checks;   NFR4  Easy-to-use interface — consistent Bootstrap UI, guided forms, downloadable CSV template;   NFR5  Reliable performance — idempotent setup, cached model loading, health endpoint for monitoring;   NFR6  Portability — runs on Windows/Linux, SQLite or MySQL via configuration only;   NFR7  Maintainability — 51 automated tests, modular blueprints/services, pinned dependencies;   NFR8  Data protection — access-controlled records; no credentials or personal data in logs.</a:t>
            </a:r>
          </a:p>
        </p:txBody>
      </p:sp>
      <p:sp>
        <p:nvSpPr>
          <p:cNvPr id="14" name="TextBox 13"/>
          <p:cNvSpPr txBox="1"/>
          <p:nvPr/>
        </p:nvSpPr>
        <p:spPr>
          <a:xfrm>
            <a:off x="548640" y="300380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3.11  Testing Strategy</a:t>
            </a:r>
          </a:p>
        </p:txBody>
      </p:sp>
      <p:sp>
        <p:nvSpPr>
          <p:cNvPr id="15" name="TextBox 14"/>
          <p:cNvSpPr txBox="1"/>
          <p:nvPr/>
        </p:nvSpPr>
        <p:spPr>
          <a:xfrm>
            <a:off x="6210147" y="31135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Four levels of testing are applied (Pressman &amp; Maxim, 2020; Table 6 in the thesis):</a:t>
            </a:r>
          </a:p>
        </p:txBody>
      </p:sp>
      <p:sp>
        <p:nvSpPr>
          <p:cNvPr id="16" name="TextBox 15"/>
          <p:cNvSpPr txBox="1"/>
          <p:nvPr/>
        </p:nvSpPr>
        <p:spPr>
          <a:xfrm>
            <a:off x="548640" y="3264407"/>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Unit testing — individual functions/modules: column aliasing, duplicate removal, imputation, risk banding, recommendation rules;</a:t>
            </a:r>
          </a:p>
        </p:txBody>
      </p:sp>
      <p:sp>
        <p:nvSpPr>
          <p:cNvPr id="17" name="TextBox 16"/>
          <p:cNvSpPr txBox="1"/>
          <p:nvPr/>
        </p:nvSpPr>
        <p:spPr>
          <a:xfrm>
            <a:off x="6210147" y="33741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Integration testing — module interactions: upload → clean → persist → predict; API → service → model;</a:t>
            </a:r>
          </a:p>
        </p:txBody>
      </p:sp>
      <p:sp>
        <p:nvSpPr>
          <p:cNvPr id="18" name="TextBox 17"/>
          <p:cNvSpPr txBox="1"/>
          <p:nvPr/>
        </p:nvSpPr>
        <p:spPr>
          <a:xfrm>
            <a:off x="6210147" y="36347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System testing — end-to-end application behaviour: login flows, permissions, all pages, exports, plots, error pages;</a:t>
            </a:r>
          </a:p>
        </p:txBody>
      </p:sp>
      <p:sp>
        <p:nvSpPr>
          <p:cNvPr id="19" name="TextBox 18"/>
          <p:cNvSpPr txBox="1"/>
          <p:nvPr/>
        </p:nvSpPr>
        <p:spPr>
          <a:xfrm>
            <a:off x="548640" y="3730751"/>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User acceptance testing — workflows against acceptance criteria: lecturer uploads &amp; sees alerts; advisor records interventions; admin re-trains.</a:t>
            </a:r>
          </a:p>
        </p:txBody>
      </p:sp>
      <p:sp>
        <p:nvSpPr>
          <p:cNvPr id="20" name="TextBox 19"/>
          <p:cNvSpPr txBox="1"/>
          <p:nvPr/>
        </p:nvSpPr>
        <p:spPr>
          <a:xfrm>
            <a:off x="6210147" y="38953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All automated tests executed with pytest; full results reported in Chapter Four (Table 13).</a:t>
            </a:r>
          </a:p>
        </p:txBody>
      </p:sp>
      <p:sp>
        <p:nvSpPr>
          <p:cNvPr id="21" name="TextBox 20"/>
          <p:cNvSpPr txBox="1"/>
          <p:nvPr/>
        </p:nvSpPr>
        <p:spPr>
          <a:xfrm>
            <a:off x="6210147" y="41559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3.12  Evaluation Metrics</a:t>
            </a:r>
          </a:p>
        </p:txBody>
      </p:sp>
      <p:sp>
        <p:nvSpPr>
          <p:cNvPr id="22" name="TextBox 21"/>
          <p:cNvSpPr txBox="1"/>
          <p:nvPr/>
        </p:nvSpPr>
        <p:spPr>
          <a:xfrm>
            <a:off x="548640" y="419709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Model performance evaluated using standard classification metrics (James et al., 2013):</a:t>
            </a:r>
          </a:p>
        </p:txBody>
      </p:sp>
      <p:sp>
        <p:nvSpPr>
          <p:cNvPr id="23" name="TextBox 22"/>
          <p:cNvSpPr txBox="1"/>
          <p:nvPr/>
        </p:nvSpPr>
        <p:spPr>
          <a:xfrm>
            <a:off x="6210147" y="4416551"/>
            <a:ext cx="5277459" cy="868680"/>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Accuracy — proportion of correctly classified students;   •  Precision — of students predicted in a band, the proportion truly in that band (weighted &amp; per-class);   •  Recall — of students truly in a band, the proportion correctly identified (weighted &amp; per-class);   •  F1-Score — harmonic mean of precision &amp; recall, reported per class, macro-averaged and weighted-averaged;   •  Confusion Matrix — full actual-vs-predicted count table;   •  Cross-validation F1 — mean ± SD over 5 stratified folds, used for model selection.</a:t>
            </a:r>
          </a:p>
        </p:txBody>
      </p:sp>
      <p:sp>
        <p:nvSpPr>
          <p:cNvPr id="24" name="TextBox 23"/>
          <p:cNvSpPr txBox="1"/>
          <p:nvPr/>
        </p:nvSpPr>
        <p:spPr>
          <a:xfrm>
            <a:off x="548640" y="445769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3.13  Ethical Considerations</a:t>
            </a:r>
          </a:p>
        </p:txBody>
      </p:sp>
      <p:sp>
        <p:nvSpPr>
          <p:cNvPr id="25" name="TextBox 24"/>
          <p:cNvSpPr txBox="1"/>
          <p:nvPr/>
        </p:nvSpPr>
        <p:spPr>
          <a:xfrm>
            <a:off x="548640" y="471830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Student data is sensitive personal information. The study therefore:</a:t>
            </a:r>
          </a:p>
        </p:txBody>
      </p:sp>
      <p:sp>
        <p:nvSpPr>
          <p:cNvPr id="26" name="TextBox 25"/>
          <p:cNvSpPr txBox="1"/>
          <p:nvPr/>
        </p:nvSpPr>
        <p:spPr>
          <a:xfrm>
            <a:off x="548640" y="497890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(a)  used synthetic records during development and requires institutional authorization before real data are loaded;</a:t>
            </a:r>
          </a:p>
        </p:txBody>
      </p:sp>
      <p:sp>
        <p:nvSpPr>
          <p:cNvPr id="27" name="TextBox 26"/>
          <p:cNvSpPr txBox="1"/>
          <p:nvPr/>
        </p:nvSpPr>
        <p:spPr>
          <a:xfrm>
            <a:off x="548640" y="523951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(b)  stores only hashed passwords;</a:t>
            </a:r>
          </a:p>
        </p:txBody>
      </p:sp>
      <p:sp>
        <p:nvSpPr>
          <p:cNvPr id="28" name="TextBox 27"/>
          <p:cNvSpPr txBox="1"/>
          <p:nvPr/>
        </p:nvSpPr>
        <p:spPr>
          <a:xfrm>
            <a:off x="548640" y="55001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(c)  restricts uploads and intervention records by role;</a:t>
            </a:r>
          </a:p>
        </p:txBody>
      </p:sp>
      <p:sp>
        <p:nvSpPr>
          <p:cNvPr id="29" name="TextBox 28"/>
          <p:cNvSpPr txBox="1"/>
          <p:nvPr/>
        </p:nvSpPr>
        <p:spPr>
          <a:xfrm>
            <a:off x="6210147" y="5500115"/>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(d)  presents predictions as decision support with explicit confidence &amp; factor explanations rather than automated decisions about individuals;</a:t>
            </a:r>
          </a:p>
        </p:txBody>
      </p:sp>
      <p:sp>
        <p:nvSpPr>
          <p:cNvPr id="30" name="TextBox 29"/>
          <p:cNvSpPr txBox="1"/>
          <p:nvPr/>
        </p:nvSpPr>
        <p:spPr>
          <a:xfrm>
            <a:off x="548640" y="57607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(e)  documents model limitations so that false negatives are not treated as guarantees of safety.</a:t>
            </a:r>
          </a:p>
        </p:txBody>
      </p:sp>
      <p:sp>
        <p:nvSpPr>
          <p:cNvPr id="31" name="Rectangle 30"/>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989320"/>
            <a:ext cx="10972800" cy="320040"/>
          </a:xfrm>
          <a:prstGeom prst="rect">
            <a:avLst/>
          </a:prstGeom>
          <a:noFill/>
        </p:spPr>
        <p:txBody>
          <a:bodyPr wrap="square" anchor="t" lIns="38100" rIns="38100" tIns="12700" bIns="12700">
            <a:spAutoFit/>
          </a:bodyPr>
          <a:lstStyle/>
          <a:p>
            <a:pPr algn="l">
              <a:lnSpc>
                <a:spcPct val="100000"/>
              </a:lnSpc>
            </a:pPr>
            <a:r>
              <a:rPr sz="1050" b="0" i="1">
                <a:solidFill>
                  <a:srgbClr val="6B778C"/>
                </a:solidFill>
                <a:latin typeface="Calibri"/>
              </a:rPr>
              <a:t>Designed as decision support, not a replacement for professional judgement.</a:t>
            </a:r>
          </a:p>
        </p:txBody>
      </p:sp>
      <p:sp>
        <p:nvSpPr>
          <p:cNvPr id="33" name="Rectangle 32"/>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35" name="TextBox 34"/>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4</a:t>
            </a:r>
          </a:p>
        </p:txBody>
      </p:sp>
      <p:sp>
        <p:nvSpPr>
          <p:cNvPr id="5" name="Rounded Rectangle 4"/>
          <p:cNvSpPr/>
          <p:nvPr/>
        </p:nvSpPr>
        <p:spPr>
          <a:xfrm>
            <a:off x="5537016" y="384048"/>
            <a:ext cx="111766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7016" y="384048"/>
            <a:ext cx="111766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4.1  |  4.2</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4.1  Experimental Setup</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Dataset: the training corpus contained 2,550 raw student records. After cleaning — removal of 50 duplicate rows and rows lacking an outcome — 2,500 records were used, each described by the 11 pre-examination features listed in Chapter Three (Table 7).</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Class distribution: Low Risk 908 records (36.3%); Medium Risk 1,256 records (50.2%); High Risk 336 records (13.4%).</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Split: 2,000 train / 500 hold-out (stratified, 80/20, random seed 42).</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Validation: 5-fold stratified cross-validation on the training set.</a:t>
            </a:r>
          </a:p>
        </p:txBody>
      </p:sp>
      <p:sp>
        <p:nvSpPr>
          <p:cNvPr id="13" name="TextBox 12"/>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moderately imbalanced class distribution (the Medium Risk band dominates) reflects typical institutional grade distributions and motivates class-weighted training and per-class reporting.</a:t>
            </a:r>
          </a:p>
        </p:txBody>
      </p:sp>
      <p:sp>
        <p:nvSpPr>
          <p:cNvPr id="14" name="TextBox 13"/>
          <p:cNvSpPr txBox="1"/>
          <p:nvPr/>
        </p:nvSpPr>
        <p:spPr>
          <a:xfrm>
            <a:off x="548640" y="1824227"/>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Environment: Python 3.14, scikit-learn 1.9, pandas 3.0, NumPy 2.5, Matplotlib 3.11 on Windows 11; deterministic random seed 42 for all stochastic components.</a:t>
            </a:r>
          </a:p>
        </p:txBody>
      </p:sp>
      <p:sp>
        <p:nvSpPr>
          <p:cNvPr id="15" name="TextBox 14"/>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Figure 3 shows the distribution of risk levels in the training dataset.</a:t>
            </a:r>
          </a:p>
        </p:txBody>
      </p:sp>
      <p:sp>
        <p:nvSpPr>
          <p:cNvPr id="16" name="TextBox 15"/>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4.2  Model Comparison Results</a:t>
            </a:r>
          </a:p>
        </p:txBody>
      </p:sp>
      <p:sp>
        <p:nvSpPr>
          <p:cNvPr id="17" name="TextBox 16"/>
          <p:cNvSpPr txBox="1"/>
          <p:nvPr/>
        </p:nvSpPr>
        <p:spPr>
          <a:xfrm>
            <a:off x="548640" y="2290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Five classifiers were trained under identical conditions (Table 8 in the thesis).</a:t>
            </a:r>
          </a:p>
        </p:txBody>
      </p:sp>
      <p:sp>
        <p:nvSpPr>
          <p:cNvPr id="18" name="TextBox 17"/>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Cross-validation scores = mean F1 (weighted) ± SD over 5 stratified folds; test metrics on the untouched 500-record hold-out.</a:t>
            </a:r>
          </a:p>
        </p:txBody>
      </p:sp>
      <p:sp>
        <p:nvSpPr>
          <p:cNvPr id="19" name="TextBox 18"/>
          <p:cNvSpPr txBox="1"/>
          <p:nvPr/>
        </p:nvSpPr>
        <p:spPr>
          <a:xfrm>
            <a:off x="548640" y="2551175"/>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Random Forest (selected): accuracy 0.830, precision(w) 0.830, recall(w) 0.830, F1(w) 0.829, CV F1 0.833 ± 0.015, train time 5.52 s;</a:t>
            </a:r>
          </a:p>
        </p:txBody>
      </p:sp>
      <p:sp>
        <p:nvSpPr>
          <p:cNvPr id="20" name="TextBox 19"/>
          <p:cNvSpPr txBox="1"/>
          <p:nvPr/>
        </p:nvSpPr>
        <p:spPr>
          <a:xfrm>
            <a:off x="6210147"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Decision Tree: accuracy 0.752, F1(w) 0.751, CV F1 0.762 ± 0.007;</a:t>
            </a:r>
          </a:p>
        </p:txBody>
      </p:sp>
      <p:sp>
        <p:nvSpPr>
          <p:cNvPr id="21" name="TextBox 20"/>
          <p:cNvSpPr txBox="1"/>
          <p:nvPr/>
        </p:nvSpPr>
        <p:spPr>
          <a:xfrm>
            <a:off x="6210147"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Logistic Regression: accuracy 0.840, F1(w) 0.840, CV F1 0.826 ± 0.019;</a:t>
            </a:r>
          </a:p>
        </p:txBody>
      </p:sp>
      <p:sp>
        <p:nvSpPr>
          <p:cNvPr id="22" name="TextBox 21"/>
          <p:cNvSpPr txBox="1"/>
          <p:nvPr/>
        </p:nvSpPr>
        <p:spPr>
          <a:xfrm>
            <a:off x="548640" y="30175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Naïve Bayes: accuracy 0.838, F1(w) 0.838, CV F1 0.829 ± 0.015;</a:t>
            </a:r>
          </a:p>
        </p:txBody>
      </p:sp>
      <p:sp>
        <p:nvSpPr>
          <p:cNvPr id="23" name="TextBox 22"/>
          <p:cNvSpPr txBox="1"/>
          <p:nvPr/>
        </p:nvSpPr>
        <p:spPr>
          <a:xfrm>
            <a:off x="6210147" y="31272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Support Vector Machine: accuracy 0.848, F1(w) 0.848, CV F1 0.821 ± 0.021.</a:t>
            </a:r>
          </a:p>
        </p:txBody>
      </p:sp>
      <p:sp>
        <p:nvSpPr>
          <p:cNvPr id="24" name="TextBox 23"/>
          <p:cNvSpPr txBox="1"/>
          <p:nvPr/>
        </p:nvSpPr>
        <p:spPr>
          <a:xfrm>
            <a:off x="548640" y="32781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Every model except the single Decision Tree clears the 70% acceptance threshold — the feature set carries genuine predictive signal.</a:t>
            </a:r>
          </a:p>
        </p:txBody>
      </p:sp>
      <p:sp>
        <p:nvSpPr>
          <p:cNvPr id="25" name="TextBox 24"/>
          <p:cNvSpPr txBox="1"/>
          <p:nvPr/>
        </p:nvSpPr>
        <p:spPr>
          <a:xfrm>
            <a:off x="6210147" y="3387851"/>
            <a:ext cx="5277459" cy="699516"/>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SVM records the highest single-split accuracy (84.8%) but the lowest cross-validated F1 (0.821 ± 0.021) — a favourable split artefact; Random Forest attains the highest cross-validated F1 (0.833 ± 0.015) with the second-smallest variance, so it is selected under the pre-declared selection criterion.</a:t>
            </a:r>
          </a:p>
        </p:txBody>
      </p:sp>
      <p:sp>
        <p:nvSpPr>
          <p:cNvPr id="26" name="TextBox 25"/>
          <p:cNvSpPr txBox="1"/>
          <p:nvPr/>
        </p:nvSpPr>
        <p:spPr>
          <a:xfrm>
            <a:off x="548640" y="3538727"/>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Logistic Regression performs almost as well as Random Forest (84.0% vs 83.0%) — the problem is largely linearly separable; the Decision Tree’s substantially lower score (75.2%) quantifies the benefit of ensembling.</a:t>
            </a:r>
          </a:p>
        </p:txBody>
      </p:sp>
      <p:sp>
        <p:nvSpPr>
          <p:cNvPr id="27" name="TextBox 26"/>
          <p:cNvSpPr txBox="1"/>
          <p:nvPr/>
        </p:nvSpPr>
        <p:spPr>
          <a:xfrm>
            <a:off x="548640" y="40050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Figure 4 shows the model comparison on the held-out test set.</a:t>
            </a:r>
          </a:p>
        </p:txBody>
      </p:sp>
      <p:sp>
        <p:nvSpPr>
          <p:cNvPr id="28" name="Rectangle 27"/>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31" name="TextBox 30"/>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4</a:t>
            </a:r>
          </a:p>
        </p:txBody>
      </p:sp>
      <p:sp>
        <p:nvSpPr>
          <p:cNvPr id="5" name="Rounded Rectangle 4"/>
          <p:cNvSpPr/>
          <p:nvPr/>
        </p:nvSpPr>
        <p:spPr>
          <a:xfrm>
            <a:off x="5537016" y="384048"/>
            <a:ext cx="111766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7016" y="384048"/>
            <a:ext cx="111766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4.3  |  4.4</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4.3  Per-Class Performance and Confusion Matrix</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Per-class metrics of the selected Random Forest model on the test set (n = 500; Table 9 in the thesis):</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Low Risk: precision 0.832, recall 0.868, F1 0.850, support 182;</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Medium Risk: precision 0.829, recall 0.833, F1 0.831, support 251;</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High Risk: precision 0.828, recall 0.716, F1 0.768, support 67;</a:t>
            </a:r>
          </a:p>
        </p:txBody>
      </p:sp>
      <p:sp>
        <p:nvSpPr>
          <p:cNvPr id="13" name="TextBox 12"/>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Weighted average: precision 0.830, recall 0.830, F1 0.829, support 500;</a:t>
            </a:r>
          </a:p>
        </p:txBody>
      </p:sp>
      <p:sp>
        <p:nvSpPr>
          <p:cNvPr id="14" name="TextBox 13"/>
          <p:cNvSpPr txBox="1"/>
          <p:nvPr/>
        </p:nvSpPr>
        <p:spPr>
          <a:xfrm>
            <a:off x="548640"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Macro average: precision 0.830, recall 0.806, F1 0.816.</a:t>
            </a:r>
          </a:p>
        </p:txBody>
      </p:sp>
      <p:sp>
        <p:nvSpPr>
          <p:cNvPr id="15" name="TextBox 14"/>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Confusion matrix (Table 10; rows = actual, columns = predicted):</a:t>
            </a:r>
          </a:p>
        </p:txBody>
      </p:sp>
      <p:sp>
        <p:nvSpPr>
          <p:cNvPr id="16" name="TextBox 15"/>
          <p:cNvSpPr txBox="1"/>
          <p:nvPr/>
        </p:nvSpPr>
        <p:spPr>
          <a:xfrm>
            <a:off x="548640"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Actual Low: 158 Low / 24 Medium / 0 High;</a:t>
            </a:r>
          </a:p>
        </p:txBody>
      </p:sp>
      <p:sp>
        <p:nvSpPr>
          <p:cNvPr id="17" name="TextBox 16"/>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Actual Medium: 32 Low / 209 Medium / 10 High;</a:t>
            </a:r>
          </a:p>
        </p:txBody>
      </p:sp>
      <p:sp>
        <p:nvSpPr>
          <p:cNvPr id="18" name="TextBox 17"/>
          <p:cNvSpPr txBox="1"/>
          <p:nvPr/>
        </p:nvSpPr>
        <p:spPr>
          <a:xfrm>
            <a:off x="548640"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Actual High: 0 Low / 19 Medium / 48 High.</a:t>
            </a:r>
          </a:p>
        </p:txBody>
      </p:sp>
      <p:sp>
        <p:nvSpPr>
          <p:cNvPr id="19" name="TextBox 18"/>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Precision is remarkably balanced across the three bands (0.828–0.832), meaning a student flagged into any band can be trusted at roughly the same rate.</a:t>
            </a:r>
          </a:p>
        </p:txBody>
      </p:sp>
      <p:sp>
        <p:nvSpPr>
          <p:cNvPr id="20" name="TextBox 19"/>
          <p:cNvSpPr txBox="1"/>
          <p:nvPr/>
        </p:nvSpPr>
        <p:spPr>
          <a:xfrm>
            <a:off x="548640"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Recall is highest for Low Risk (0.868) and lowest for High Risk (0.716): 19 of 67 truly at-risk students were predicted Medium Risk.</a:t>
            </a:r>
          </a:p>
        </p:txBody>
      </p:sp>
      <p:sp>
        <p:nvSpPr>
          <p:cNvPr id="21" name="TextBox 20"/>
          <p:cNvSpPr txBox="1"/>
          <p:nvPr/>
        </p:nvSpPr>
        <p:spPr>
          <a:xfrm>
            <a:off x="6210147"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Importantly, NO High-Risk student was predicted Low Risk (the bottom-left cell is zero), so the most dangerous error type — silently clearing a failing student — did not occur in this evaluation.</a:t>
            </a:r>
          </a:p>
        </p:txBody>
      </p:sp>
      <p:sp>
        <p:nvSpPr>
          <p:cNvPr id="22" name="TextBox 21"/>
          <p:cNvSpPr txBox="1"/>
          <p:nvPr/>
        </p:nvSpPr>
        <p:spPr>
          <a:xfrm>
            <a:off x="548640"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Medium-band confusions dominate because students near the 50/70 score boundaries are inherently ambiguous.</a:t>
            </a:r>
          </a:p>
        </p:txBody>
      </p:sp>
      <p:sp>
        <p:nvSpPr>
          <p:cNvPr id="23" name="TextBox 22"/>
          <p:cNvSpPr txBox="1"/>
          <p:nvPr/>
        </p:nvSpPr>
        <p:spPr>
          <a:xfrm>
            <a:off x="6210147"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Figure 5 shows the confusion matrix of the selected Random Forest model.</a:t>
            </a:r>
          </a:p>
        </p:txBody>
      </p:sp>
      <p:sp>
        <p:nvSpPr>
          <p:cNvPr id="24" name="TextBox 23"/>
          <p:cNvSpPr txBox="1"/>
          <p:nvPr/>
        </p:nvSpPr>
        <p:spPr>
          <a:xfrm>
            <a:off x="548640" y="31272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4.4  Feature Importance and Interpretation</a:t>
            </a:r>
          </a:p>
        </p:txBody>
      </p:sp>
      <p:sp>
        <p:nvSpPr>
          <p:cNvPr id="25" name="TextBox 24"/>
          <p:cNvSpPr txBox="1"/>
          <p:nvPr/>
        </p:nvSpPr>
        <p:spPr>
          <a:xfrm>
            <a:off x="6210147" y="31272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Random Forest reports impurity-based feature importances for the deployed pipeline (Table 11 in the thesis):</a:t>
            </a:r>
          </a:p>
        </p:txBody>
      </p:sp>
      <p:sp>
        <p:nvSpPr>
          <p:cNvPr id="26" name="TextBox 25"/>
          <p:cNvSpPr txBox="1"/>
          <p:nvPr/>
        </p:nvSpPr>
        <p:spPr>
          <a:xfrm>
            <a:off x="548640" y="3387851"/>
            <a:ext cx="5277459" cy="699516"/>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1.  Continuous assessment — 0.2290;   2.  Previous GPA — 0.1644;   3.  Mid-semester score — 0.1324;   4.  Assignment score — 0.1274;   5.  Quiz score — 0.1089;   6.  Attendance percentage — 0.0828;   7.  Study hours — 0.0816;   8.  Age — 0.0253;   9–25  Programme / department / gender levels — ≈0.048 combined.</a:t>
            </a:r>
          </a:p>
        </p:txBody>
      </p:sp>
      <p:sp>
        <p:nvSpPr>
          <p:cNvPr id="27" name="TextBox 26"/>
          <p:cNvSpPr txBox="1"/>
          <p:nvPr/>
        </p:nvSpPr>
        <p:spPr>
          <a:xfrm>
            <a:off x="6210147" y="338785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Figure 6 shows the top 15 feature importances of the selected model.</a:t>
            </a:r>
          </a:p>
        </p:txBody>
      </p:sp>
      <p:sp>
        <p:nvSpPr>
          <p:cNvPr id="28" name="TextBox 27"/>
          <p:cNvSpPr txBox="1"/>
          <p:nvPr/>
        </p:nvSpPr>
        <p:spPr>
          <a:xfrm>
            <a:off x="6210147" y="364845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ranking confirms the EDM literature: continuous assessment, previous GPA and mid-semester score are the strongest predictors, while demographic features contribute comparatively little.</a:t>
            </a:r>
          </a:p>
        </p:txBody>
      </p:sp>
      <p:sp>
        <p:nvSpPr>
          <p:cNvPr id="29" name="Rectangle 28"/>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32" name="TextBox 31"/>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4</a:t>
            </a:r>
          </a:p>
        </p:txBody>
      </p:sp>
      <p:sp>
        <p:nvSpPr>
          <p:cNvPr id="5" name="Rounded Rectangle 4"/>
          <p:cNvSpPr/>
          <p:nvPr/>
        </p:nvSpPr>
        <p:spPr>
          <a:xfrm>
            <a:off x="5537016" y="384048"/>
            <a:ext cx="111766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7016" y="384048"/>
            <a:ext cx="111766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4.5  |  4.6</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4.5  Discussion Relative to the Research Questions</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RQ1 — Which academic factors significantly influence student performance?</a:t>
            </a:r>
          </a:p>
        </p:txBody>
      </p:sp>
      <p:sp>
        <p:nvSpPr>
          <p:cNvPr id="10" name="TextBox 9"/>
          <p:cNvSpPr txBox="1"/>
          <p:nvPr/>
        </p:nvSpPr>
        <p:spPr>
          <a:xfrm>
            <a:off x="548640" y="1303019"/>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Continuous assessment, previous GPA and mid-semester score are the strongest predictors; assessment engagement &amp; prior attainment dominate; demographic variables contribute comparatively little (Table 12 in the thesis).</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RQ2 — Which machine learning algorithm provides the highest prediction accuracy?</a:t>
            </a:r>
          </a:p>
        </p:txBody>
      </p:sp>
      <p:sp>
        <p:nvSpPr>
          <p:cNvPr id="12" name="TextBox 11"/>
          <p:cNvSpPr txBox="1"/>
          <p:nvPr/>
        </p:nvSpPr>
        <p:spPr>
          <a:xfrm>
            <a:off x="6210147" y="1563623"/>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Random Forest on cross-validated F1 (0.833 ± 0.015) — robust across folds; SVM’s higher single-split accuracy is a favourable split artefact.</a:t>
            </a:r>
          </a:p>
        </p:txBody>
      </p:sp>
      <p:sp>
        <p:nvSpPr>
          <p:cNvPr id="13" name="TextBox 12"/>
          <p:cNvSpPr txBox="1"/>
          <p:nvPr/>
        </p:nvSpPr>
        <p:spPr>
          <a:xfrm>
            <a:off x="548640" y="176936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RQ3 — How can AI assist lecturers in identifying at-risk students early?</a:t>
            </a:r>
          </a:p>
        </p:txBody>
      </p:sp>
      <p:sp>
        <p:nvSpPr>
          <p:cNvPr id="14" name="TextBox 13"/>
          <p:cNvSpPr txBox="1"/>
          <p:nvPr/>
        </p:nvSpPr>
        <p:spPr>
          <a:xfrm>
            <a:off x="548640" y="202996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Calibrated risk bands from a mid-semester snapshot, surfaced on role-based dashboards with ranked alerts and factor explanations.</a:t>
            </a:r>
          </a:p>
        </p:txBody>
      </p:sp>
      <p:sp>
        <p:nvSpPr>
          <p:cNvPr id="15" name="TextBox 14"/>
          <p:cNvSpPr txBox="1"/>
          <p:nvPr/>
        </p:nvSpPr>
        <p:spPr>
          <a:xfrm>
            <a:off x="6210147" y="202996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RQ4 — Can early prediction improve academic intervention strategies?</a:t>
            </a:r>
          </a:p>
        </p:txBody>
      </p:sp>
      <p:sp>
        <p:nvSpPr>
          <p:cNvPr id="16" name="TextBox 15"/>
          <p:cNvSpPr txBox="1"/>
          <p:nvPr/>
        </p:nvSpPr>
        <p:spPr>
          <a:xfrm>
            <a:off x="548640" y="2290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Yes — decision support surfaces at-risk students before finals, with rule-based recommendations and a tracked intervention record per student.</a:t>
            </a:r>
          </a:p>
        </p:txBody>
      </p:sp>
      <p:sp>
        <p:nvSpPr>
          <p:cNvPr id="17" name="TextBox 16"/>
          <p:cNvSpPr txBox="1"/>
          <p:nvPr/>
        </p:nvSpPr>
        <p:spPr>
          <a:xfrm>
            <a:off x="6210147" y="2290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Table 12 (in the thesis) summarises the answers to the research questions.</a:t>
            </a:r>
          </a:p>
        </p:txBody>
      </p:sp>
      <p:sp>
        <p:nvSpPr>
          <p:cNvPr id="18" name="TextBox 17"/>
          <p:cNvSpPr txBox="1"/>
          <p:nvPr/>
        </p:nvSpPr>
        <p:spPr>
          <a:xfrm>
            <a:off x="548640"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4.6  System Implementation</a:t>
            </a:r>
          </a:p>
        </p:txBody>
      </p:sp>
      <p:sp>
        <p:nvSpPr>
          <p:cNvPr id="19" name="TextBox 18"/>
          <p:cNvSpPr txBox="1"/>
          <p:nvPr/>
        </p:nvSpPr>
        <p:spPr>
          <a:xfrm>
            <a:off x="6210147"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deployed system is a role-based Flask web application with the following pages and capabilities:</a:t>
            </a:r>
          </a:p>
        </p:txBody>
      </p:sp>
      <p:sp>
        <p:nvSpPr>
          <p:cNvPr id="20" name="TextBox 19"/>
          <p:cNvSpPr txBox="1"/>
          <p:nvPr/>
        </p:nvSpPr>
        <p:spPr>
          <a:xfrm>
            <a:off x="548640"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Login interface (Figure 7) with role-based access control;</a:t>
            </a:r>
          </a:p>
        </p:txBody>
      </p:sp>
      <p:sp>
        <p:nvSpPr>
          <p:cNvPr id="21" name="TextBox 20"/>
          <p:cNvSpPr txBox="1"/>
          <p:nvPr/>
        </p:nvSpPr>
        <p:spPr>
          <a:xfrm>
            <a:off x="6210147"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   •  Early-warning dashboard (Figure 8) showing risk distributions, alerts and key statistics;</a:t>
            </a:r>
          </a:p>
        </p:txBody>
      </p:sp>
      <p:sp>
        <p:nvSpPr>
          <p:cNvPr id="22" name="TextBox 21"/>
          <p:cNvSpPr txBox="1"/>
          <p:nvPr/>
        </p:nvSpPr>
        <p:spPr>
          <a:xfrm>
            <a:off x="548640" y="30723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Student records with risk filters (Figure 9);</a:t>
            </a:r>
          </a:p>
        </p:txBody>
      </p:sp>
      <p:sp>
        <p:nvSpPr>
          <p:cNvPr id="23" name="TextBox 22"/>
          <p:cNvSpPr txBox="1"/>
          <p:nvPr/>
        </p:nvSpPr>
        <p:spPr>
          <a:xfrm>
            <a:off x="6210147" y="307238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Student detail with prediction, factors and interventions (Figure 10);</a:t>
            </a:r>
          </a:p>
        </p:txBody>
      </p:sp>
      <p:sp>
        <p:nvSpPr>
          <p:cNvPr id="24" name="TextBox 23"/>
          <p:cNvSpPr txBox="1"/>
          <p:nvPr/>
        </p:nvSpPr>
        <p:spPr>
          <a:xfrm>
            <a:off x="548640" y="333298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Model performance page (Figure 11);</a:t>
            </a:r>
          </a:p>
        </p:txBody>
      </p:sp>
      <p:sp>
        <p:nvSpPr>
          <p:cNvPr id="25" name="TextBox 24"/>
          <p:cNvSpPr txBox="1"/>
          <p:nvPr/>
        </p:nvSpPr>
        <p:spPr>
          <a:xfrm>
            <a:off x="6210147" y="333298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   •  Reports page with advisor work-list (Figure 12).</a:t>
            </a:r>
          </a:p>
        </p:txBody>
      </p:sp>
      <p:sp>
        <p:nvSpPr>
          <p:cNvPr id="26" name="TextBox 25"/>
          <p:cNvSpPr txBox="1"/>
          <p:nvPr/>
        </p:nvSpPr>
        <p:spPr>
          <a:xfrm>
            <a:off x="548640" y="3593591"/>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Frontend is Bootstrap 5 + Chart.js; backend is Flask with auth, main and API blueprints; the ML service is a separate module (preprocess → train → evaluate → predict → recommend).</a:t>
            </a:r>
          </a:p>
        </p:txBody>
      </p:sp>
      <p:sp>
        <p:nvSpPr>
          <p:cNvPr id="27" name="TextBox 26"/>
          <p:cNvSpPr txBox="1"/>
          <p:nvPr/>
        </p:nvSpPr>
        <p:spPr>
          <a:xfrm>
            <a:off x="6210147" y="359359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system is production-grade (tests passing, security headers, RBAC, health endpoint) and served via Docker + MySQL / Waitress.</a:t>
            </a:r>
          </a:p>
        </p:txBody>
      </p:sp>
      <p:sp>
        <p:nvSpPr>
          <p:cNvPr id="28" name="Rectangle 27"/>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989320"/>
            <a:ext cx="10972800" cy="320040"/>
          </a:xfrm>
          <a:prstGeom prst="rect">
            <a:avLst/>
          </a:prstGeom>
          <a:noFill/>
        </p:spPr>
        <p:txBody>
          <a:bodyPr wrap="square" anchor="t" lIns="38100" rIns="38100" tIns="12700" bIns="12700">
            <a:spAutoFit/>
          </a:bodyPr>
          <a:lstStyle/>
          <a:p>
            <a:pPr algn="l">
              <a:lnSpc>
                <a:spcPct val="100000"/>
              </a:lnSpc>
            </a:pPr>
            <a:r>
              <a:rPr sz="1050" b="0" i="1">
                <a:solidFill>
                  <a:srgbClr val="6B778C"/>
                </a:solidFill>
                <a:latin typeface="Calibri"/>
              </a:rPr>
              <a:t>Decision support surfaces at-risk students before finals, not after failure.</a:t>
            </a:r>
          </a:p>
        </p:txBody>
      </p:sp>
      <p:sp>
        <p:nvSpPr>
          <p:cNvPr id="30" name="Rectangle 29"/>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32" name="TextBox 31"/>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4</a:t>
            </a:r>
          </a:p>
        </p:txBody>
      </p:sp>
      <p:sp>
        <p:nvSpPr>
          <p:cNvPr id="5" name="Rounded Rectangle 4"/>
          <p:cNvSpPr/>
          <p:nvPr/>
        </p:nvSpPr>
        <p:spPr>
          <a:xfrm>
            <a:off x="5243646" y="384048"/>
            <a:ext cx="170440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43646" y="384048"/>
            <a:ext cx="170440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4.7  |  4.8  |  4.9</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4.7  System Testing and User Acceptance</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Automated system test results (Table 13 in the thesis): 51 automated tests passed, covering unit, integration, system and user-acceptance scenarios.</a:t>
            </a:r>
          </a:p>
        </p:txBody>
      </p:sp>
      <p:sp>
        <p:nvSpPr>
          <p:cNvPr id="10" name="TextBox 9"/>
          <p:cNvSpPr txBox="1"/>
          <p:nvPr/>
        </p:nvSpPr>
        <p:spPr>
          <a:xfrm>
            <a:off x="548640" y="1303019"/>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User-acceptance test results (Table 14): lecturer uploads and sees alerts; advisor records interventions; admin re-trains and re-scores.</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Testing confirms the system meets the functional requirements FR1–FR12 and the non-functional requirements NFR1–NFR8.</a:t>
            </a:r>
          </a:p>
        </p:txBody>
      </p:sp>
      <p:sp>
        <p:nvSpPr>
          <p:cNvPr id="12" name="TextBox 11"/>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4.8  Performance Evaluation</a:t>
            </a:r>
          </a:p>
        </p:txBody>
      </p:sp>
      <p:sp>
        <p:nvSpPr>
          <p:cNvPr id="13" name="TextBox 12"/>
          <p:cNvSpPr txBox="1"/>
          <p:nvPr/>
        </p:nvSpPr>
        <p:spPr>
          <a:xfrm>
            <a:off x="548640" y="176936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Single-student prediction: mean 184 ms.</a:t>
            </a:r>
          </a:p>
        </p:txBody>
      </p:sp>
      <p:sp>
        <p:nvSpPr>
          <p:cNvPr id="14" name="TextBox 13"/>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Batch prediction of 1,000 students: 275 ms.</a:t>
            </a:r>
          </a:p>
        </p:txBody>
      </p:sp>
      <p:sp>
        <p:nvSpPr>
          <p:cNvPr id="15" name="TextBox 14"/>
          <p:cNvSpPr txBox="1"/>
          <p:nvPr/>
        </p:nvSpPr>
        <p:spPr>
          <a:xfrm>
            <a:off x="548640" y="202996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Dashboard pages render under 2 s; prediction endpoint under 1 s (NFR1 met).</a:t>
            </a:r>
          </a:p>
        </p:txBody>
      </p:sp>
      <p:sp>
        <p:nvSpPr>
          <p:cNvPr id="16" name="TextBox 15"/>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Held-out accuracy 0.830 ≥ 70% acceptance gate (NFR2 met).</a:t>
            </a:r>
          </a:p>
        </p:txBody>
      </p:sp>
      <p:sp>
        <p:nvSpPr>
          <p:cNvPr id="17" name="TextBox 16"/>
          <p:cNvSpPr txBox="1"/>
          <p:nvPr/>
        </p:nvSpPr>
        <p:spPr>
          <a:xfrm>
            <a:off x="548640" y="229057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Deterministic seed 42 throughout — reproducible results.</a:t>
            </a:r>
          </a:p>
        </p:txBody>
      </p:sp>
      <p:sp>
        <p:nvSpPr>
          <p:cNvPr id="18" name="TextBox 17"/>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Performance benchmarks summarised in Table 15 (in the thesis).</a:t>
            </a:r>
          </a:p>
        </p:txBody>
      </p:sp>
      <p:sp>
        <p:nvSpPr>
          <p:cNvPr id="19" name="TextBox 18"/>
          <p:cNvSpPr txBox="1"/>
          <p:nvPr/>
        </p:nvSpPr>
        <p:spPr>
          <a:xfrm>
            <a:off x="548640"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4.9  General Discussion</a:t>
            </a:r>
          </a:p>
        </p:txBody>
      </p:sp>
      <p:sp>
        <p:nvSpPr>
          <p:cNvPr id="20" name="TextBox 19"/>
          <p:cNvSpPr txBox="1"/>
          <p:nvPr/>
        </p:nvSpPr>
        <p:spPr>
          <a:xfrm>
            <a:off x="6210147"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experiment confirms that a mid-semester snapshot of academic indicators carries enough signal to predict three-level academic risk with useful accuracy.</a:t>
            </a:r>
          </a:p>
        </p:txBody>
      </p:sp>
      <p:sp>
        <p:nvSpPr>
          <p:cNvPr id="21" name="TextBox 20"/>
          <p:cNvSpPr txBox="1"/>
          <p:nvPr/>
        </p:nvSpPr>
        <p:spPr>
          <a:xfrm>
            <a:off x="548640"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selected Random Forest model is both accurate and explainable: feature importances make it possible to tell lecturers not only who is at risk but also why.</a:t>
            </a:r>
          </a:p>
        </p:txBody>
      </p:sp>
      <p:sp>
        <p:nvSpPr>
          <p:cNvPr id="22" name="TextBox 21"/>
          <p:cNvSpPr txBox="1"/>
          <p:nvPr/>
        </p:nvSpPr>
        <p:spPr>
          <a:xfrm>
            <a:off x="6210147"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most important practical result is that no High-Risk student was predicted Low Risk in this evaluation — the most dangerous error type was avoided.</a:t>
            </a:r>
          </a:p>
        </p:txBody>
      </p:sp>
      <p:sp>
        <p:nvSpPr>
          <p:cNvPr id="23" name="TextBox 22"/>
          <p:cNvSpPr txBox="1"/>
          <p:nvPr/>
        </p:nvSpPr>
        <p:spPr>
          <a:xfrm>
            <a:off x="548640" y="3072383"/>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system is designed as decision support, not a replacement for professional judgement; every prediction must be reviewed by a lecturer or advisor alongside contextual knowledge.</a:t>
            </a:r>
          </a:p>
        </p:txBody>
      </p:sp>
      <p:sp>
        <p:nvSpPr>
          <p:cNvPr id="24" name="TextBox 23"/>
          <p:cNvSpPr txBox="1"/>
          <p:nvPr/>
        </p:nvSpPr>
        <p:spPr>
          <a:xfrm>
            <a:off x="6210147" y="3127247"/>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main limitation is that results are based on synthetic data; real-data accuracy remains to be measured under institutional authorization.</a:t>
            </a:r>
          </a:p>
        </p:txBody>
      </p:sp>
      <p:sp>
        <p:nvSpPr>
          <p:cNvPr id="25" name="Rectangle 24"/>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8" name="TextBox 27"/>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5</a:t>
            </a:r>
          </a:p>
        </p:txBody>
      </p:sp>
      <p:sp>
        <p:nvSpPr>
          <p:cNvPr id="5" name="Rounded Rectangle 4"/>
          <p:cNvSpPr/>
          <p:nvPr/>
        </p:nvSpPr>
        <p:spPr>
          <a:xfrm>
            <a:off x="5243646" y="384048"/>
            <a:ext cx="170440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43646" y="384048"/>
            <a:ext cx="170440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5.1  |  5.2  |  5.3</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5.1  Summary</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An AI-based academic performance prediction system was designed and developed end-to-end.</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It analyses mid-semester student data and classifies each student into Low / Medium / High risk.</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A Design and Development methodology was followed; the artefact was built and evaluated.</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Five classifiers were compared under an 80/20 stratified split and 5-fold cross-validation.</a:t>
            </a:r>
          </a:p>
        </p:txBody>
      </p:sp>
      <p:sp>
        <p:nvSpPr>
          <p:cNvPr id="13" name="TextBox 12"/>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Random Forest was selected on the strength of the best cross-validated F1 (0.833 ± 0.015).</a:t>
            </a:r>
          </a:p>
        </p:txBody>
      </p:sp>
      <p:sp>
        <p:nvSpPr>
          <p:cNvPr id="14" name="TextBox 13"/>
          <p:cNvSpPr txBox="1"/>
          <p:nvPr/>
        </p:nvSpPr>
        <p:spPr>
          <a:xfrm>
            <a:off x="548640"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Held-out accuracy 0.830; weighted F1 0.829; per-class F1 0.850 / 0.831 / 0.768.</a:t>
            </a:r>
          </a:p>
        </p:txBody>
      </p:sp>
      <p:sp>
        <p:nvSpPr>
          <p:cNvPr id="15" name="TextBox 14"/>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Continuous assessment, previous GPA and mid-semester score are the strongest predictors.</a:t>
            </a:r>
          </a:p>
        </p:txBody>
      </p:sp>
      <p:sp>
        <p:nvSpPr>
          <p:cNvPr id="16" name="TextBox 15"/>
          <p:cNvSpPr txBox="1"/>
          <p:nvPr/>
        </p:nvSpPr>
        <p:spPr>
          <a:xfrm>
            <a:off x="548640" y="2084831"/>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model is deployed in a role-based Flask web app with dashboards, alerts, recommendations and an intervention tracker — 51 tests passing; served via Docker + MySQL / Waitress.</a:t>
            </a:r>
          </a:p>
        </p:txBody>
      </p:sp>
      <p:sp>
        <p:nvSpPr>
          <p:cNvPr id="17" name="TextBox 16"/>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5.2  Findings</a:t>
            </a:r>
          </a:p>
        </p:txBody>
      </p:sp>
      <p:sp>
        <p:nvSpPr>
          <p:cNvPr id="18" name="TextBox 17"/>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AI-driven early-warning prediction is feasible, accurate and actionable within a university setting.</a:t>
            </a:r>
          </a:p>
        </p:txBody>
      </p:sp>
      <p:sp>
        <p:nvSpPr>
          <p:cNvPr id="19" name="TextBox 18"/>
          <p:cNvSpPr txBox="1"/>
          <p:nvPr/>
        </p:nvSpPr>
        <p:spPr>
          <a:xfrm>
            <a:off x="548640" y="255117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system converts routine mid-semester records into prioritised risk alerts and concrete intervention recommendations, enabling support before final examinations rather than after failure.</a:t>
            </a:r>
          </a:p>
        </p:txBody>
      </p:sp>
      <p:sp>
        <p:nvSpPr>
          <p:cNvPr id="20" name="TextBox 19"/>
          <p:cNvSpPr txBox="1"/>
          <p:nvPr/>
        </p:nvSpPr>
        <p:spPr>
          <a:xfrm>
            <a:off x="6210147"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Random Forest was the best model under the pre-declared selection criterion (highest cross-validated F1).</a:t>
            </a:r>
          </a:p>
        </p:txBody>
      </p:sp>
      <p:sp>
        <p:nvSpPr>
          <p:cNvPr id="21" name="TextBox 20"/>
          <p:cNvSpPr txBox="1"/>
          <p:nvPr/>
        </p:nvSpPr>
        <p:spPr>
          <a:xfrm>
            <a:off x="548640" y="281177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Per-class precision is balanced (0.828–0.832), so a flag in any band is equally trustworthy.</a:t>
            </a:r>
          </a:p>
        </p:txBody>
      </p:sp>
      <p:sp>
        <p:nvSpPr>
          <p:cNvPr id="22" name="TextBox 21"/>
          <p:cNvSpPr txBox="1"/>
          <p:nvPr/>
        </p:nvSpPr>
        <p:spPr>
          <a:xfrm>
            <a:off x="6210147"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No High-Risk student was predicted Low Risk — the most dangerous error type was avoided in this evaluation.</a:t>
            </a:r>
          </a:p>
        </p:txBody>
      </p:sp>
      <p:sp>
        <p:nvSpPr>
          <p:cNvPr id="23" name="TextBox 22"/>
          <p:cNvSpPr txBox="1"/>
          <p:nvPr/>
        </p:nvSpPr>
        <p:spPr>
          <a:xfrm>
            <a:off x="548640" y="3072383"/>
            <a:ext cx="5277459" cy="484632"/>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Continuous assessment, previous GPA and mid-semester score are the strongest predictors; demographic features contribute comparatively little.</a:t>
            </a:r>
          </a:p>
        </p:txBody>
      </p:sp>
      <p:sp>
        <p:nvSpPr>
          <p:cNvPr id="24" name="TextBox 23"/>
          <p:cNvSpPr txBox="1"/>
          <p:nvPr/>
        </p:nvSpPr>
        <p:spPr>
          <a:xfrm>
            <a:off x="6210147" y="31272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model is deployed in a role-based web app with 51 automated tests and served via Docker + MySQL / Waitress.</a:t>
            </a:r>
          </a:p>
        </p:txBody>
      </p:sp>
      <p:sp>
        <p:nvSpPr>
          <p:cNvPr id="25" name="TextBox 24"/>
          <p:cNvSpPr txBox="1"/>
          <p:nvPr/>
        </p:nvSpPr>
        <p:spPr>
          <a:xfrm>
            <a:off x="6210147" y="338785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5.3  Conclusion</a:t>
            </a:r>
          </a:p>
        </p:txBody>
      </p:sp>
      <p:sp>
        <p:nvSpPr>
          <p:cNvPr id="26" name="TextBox 25"/>
          <p:cNvSpPr txBox="1"/>
          <p:nvPr/>
        </p:nvSpPr>
        <p:spPr>
          <a:xfrm>
            <a:off x="548640" y="35387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aim of this project was to develop an AI-based system that predicts university students’ academic performance and assists lecturers and academic advisors in identifying academically at-risk students at an early stage.</a:t>
            </a:r>
          </a:p>
        </p:txBody>
      </p:sp>
      <p:sp>
        <p:nvSpPr>
          <p:cNvPr id="27" name="TextBox 26"/>
          <p:cNvSpPr txBox="1"/>
          <p:nvPr/>
        </p:nvSpPr>
        <p:spPr>
          <a:xfrm>
            <a:off x="6210147" y="364845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This aim was achieved: the system was designed, built, evaluated and deployed.</a:t>
            </a:r>
          </a:p>
        </p:txBody>
      </p:sp>
      <p:sp>
        <p:nvSpPr>
          <p:cNvPr id="28" name="TextBox 27"/>
          <p:cNvSpPr txBox="1"/>
          <p:nvPr/>
        </p:nvSpPr>
        <p:spPr>
          <a:xfrm>
            <a:off x="548640" y="37993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system is production-grade (tests passing, security headers, RBAC, health endpoint) and served via Docker + MySQL / Waitress.</a:t>
            </a:r>
          </a:p>
        </p:txBody>
      </p:sp>
      <p:sp>
        <p:nvSpPr>
          <p:cNvPr id="29" name="TextBox 28"/>
          <p:cNvSpPr txBox="1"/>
          <p:nvPr/>
        </p:nvSpPr>
        <p:spPr>
          <a:xfrm>
            <a:off x="6210147" y="390905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Its accuracy depends on data quality, so it is designed as decision support for lecturers and advisors rather than a replacement for professional judgement.</a:t>
            </a:r>
          </a:p>
        </p:txBody>
      </p:sp>
      <p:sp>
        <p:nvSpPr>
          <p:cNvPr id="30" name="TextBox 29"/>
          <p:cNvSpPr txBox="1"/>
          <p:nvPr/>
        </p:nvSpPr>
        <p:spPr>
          <a:xfrm>
            <a:off x="548640" y="40599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Every prediction must be reviewed by a lecturer or advisor alongside professional judgement.</a:t>
            </a:r>
          </a:p>
        </p:txBody>
      </p:sp>
      <p:sp>
        <p:nvSpPr>
          <p:cNvPr id="31" name="Rectangle 30"/>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34" name="TextBox 33"/>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0" y="384048"/>
            <a:ext cx="3474720" cy="420624"/>
          </a:xfrm>
          <a:prstGeom prst="roundRect">
            <a:avLst>
              <a:gd name="adj" fmla="val 10000"/>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21040" y="384048"/>
            <a:ext cx="3291840" cy="420624"/>
          </a:xfrm>
          <a:prstGeom prst="rect">
            <a:avLst/>
          </a:prstGeom>
          <a:noFill/>
        </p:spPr>
        <p:txBody>
          <a:bodyPr wrap="square" anchor="ctr" lIns="38100" rIns="38100" tIns="12700" bIns="12700">
            <a:spAutoFit/>
          </a:bodyPr>
          <a:lstStyle/>
          <a:p>
            <a:pPr algn="r">
              <a:lnSpc>
                <a:spcPct val="100000"/>
              </a:lnSpc>
            </a:pPr>
            <a:r>
              <a:rPr sz="1100" b="1" i="0">
                <a:solidFill>
                  <a:srgbClr val="5B8DF7"/>
                </a:solidFill>
                <a:latin typeface="Calibri"/>
              </a:rPr>
              <a:t>CHAPTER 5</a:t>
            </a:r>
          </a:p>
        </p:txBody>
      </p:sp>
      <p:sp>
        <p:nvSpPr>
          <p:cNvPr id="5" name="Rounded Rectangle 4"/>
          <p:cNvSpPr/>
          <p:nvPr/>
        </p:nvSpPr>
        <p:spPr>
          <a:xfrm>
            <a:off x="5243646" y="384048"/>
            <a:ext cx="1704403" cy="310896"/>
          </a:xfrm>
          <a:prstGeom prst="roundRect">
            <a:avLst>
              <a:gd name="adj" fmla="val 50000"/>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43646" y="384048"/>
            <a:ext cx="1704403" cy="310896"/>
          </a:xfrm>
          <a:prstGeom prst="rect">
            <a:avLst/>
          </a:prstGeom>
          <a:noFill/>
        </p:spPr>
        <p:txBody>
          <a:bodyPr wrap="square" anchor="ctr" lIns="38100" rIns="38100" tIns="12700" bIns="12700">
            <a:spAutoFit/>
          </a:bodyPr>
          <a:lstStyle/>
          <a:p>
            <a:pPr algn="ctr">
              <a:lnSpc>
                <a:spcPct val="100000"/>
              </a:lnSpc>
            </a:pPr>
            <a:r>
              <a:rPr sz="1050" b="1" i="0">
                <a:solidFill>
                  <a:srgbClr val="0E162A"/>
                </a:solidFill>
                <a:latin typeface="Calibri"/>
              </a:rPr>
              <a:t>5.4  |  5.5  |  5.6</a:t>
            </a:r>
          </a:p>
        </p:txBody>
      </p:sp>
      <p:sp>
        <p:nvSpPr>
          <p:cNvPr id="7" name="Rectangle 6"/>
          <p:cNvSpPr/>
          <p:nvPr/>
        </p:nvSpPr>
        <p:spPr>
          <a:xfrm>
            <a:off x="502920" y="868680"/>
            <a:ext cx="1115568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5.4  Recommendations</a:t>
            </a:r>
          </a:p>
        </p:txBody>
      </p:sp>
      <p:sp>
        <p:nvSpPr>
          <p:cNvPr id="9" name="TextBox 8"/>
          <p:cNvSpPr txBox="1"/>
          <p:nvPr/>
        </p:nvSpPr>
        <p:spPr>
          <a:xfrm>
            <a:off x="6210147" y="104241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Deploy the system with institutional authorization and real student data.</a:t>
            </a:r>
          </a:p>
        </p:txBody>
      </p:sp>
      <p:sp>
        <p:nvSpPr>
          <p:cNvPr id="10" name="TextBox 9"/>
          <p:cNvSpPr txBox="1"/>
          <p:nvPr/>
        </p:nvSpPr>
        <p:spPr>
          <a:xfrm>
            <a:off x="548640"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Train lecturers and advisors to interpret risk bands alongside professional judgement.</a:t>
            </a:r>
          </a:p>
        </p:txBody>
      </p:sp>
      <p:sp>
        <p:nvSpPr>
          <p:cNvPr id="11" name="TextBox 10"/>
          <p:cNvSpPr txBox="1"/>
          <p:nvPr/>
        </p:nvSpPr>
        <p:spPr>
          <a:xfrm>
            <a:off x="6210147" y="130301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Integrate with the existing Student Information System for seamless data flow.</a:t>
            </a:r>
          </a:p>
        </p:txBody>
      </p:sp>
      <p:sp>
        <p:nvSpPr>
          <p:cNvPr id="12" name="TextBox 11"/>
          <p:cNvSpPr txBox="1"/>
          <p:nvPr/>
        </p:nvSpPr>
        <p:spPr>
          <a:xfrm>
            <a:off x="548640"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Track interventions longitudinally to close the feedback loop and improve the model over time.</a:t>
            </a:r>
          </a:p>
        </p:txBody>
      </p:sp>
      <p:sp>
        <p:nvSpPr>
          <p:cNvPr id="13" name="TextBox 12"/>
          <p:cNvSpPr txBox="1"/>
          <p:nvPr/>
        </p:nvSpPr>
        <p:spPr>
          <a:xfrm>
            <a:off x="6210147" y="156362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Monitor model drift and retrain periodically as new data accrue.</a:t>
            </a:r>
          </a:p>
        </p:txBody>
      </p:sp>
      <p:sp>
        <p:nvSpPr>
          <p:cNvPr id="14" name="TextBox 13"/>
          <p:cNvSpPr txBox="1"/>
          <p:nvPr/>
        </p:nvSpPr>
        <p:spPr>
          <a:xfrm>
            <a:off x="548640"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Present predictions as decision support with explicit confidence and factor explanations, never as automated decisions about individuals.</a:t>
            </a:r>
          </a:p>
        </p:txBody>
      </p:sp>
      <p:sp>
        <p:nvSpPr>
          <p:cNvPr id="15" name="TextBox 14"/>
          <p:cNvSpPr txBox="1"/>
          <p:nvPr/>
        </p:nvSpPr>
        <p:spPr>
          <a:xfrm>
            <a:off x="6210147" y="182422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5.5  Limitations</a:t>
            </a:r>
          </a:p>
        </p:txBody>
      </p:sp>
      <p:sp>
        <p:nvSpPr>
          <p:cNvPr id="16" name="TextBox 15"/>
          <p:cNvSpPr txBox="1"/>
          <p:nvPr/>
        </p:nvSpPr>
        <p:spPr>
          <a:xfrm>
            <a:off x="548640"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study used synthetic training data; real-data accuracy has not yet been measured.</a:t>
            </a:r>
          </a:p>
        </p:txBody>
      </p:sp>
      <p:sp>
        <p:nvSpPr>
          <p:cNvPr id="17" name="TextBox 16"/>
          <p:cNvSpPr txBox="1"/>
          <p:nvPr/>
        </p:nvSpPr>
        <p:spPr>
          <a:xfrm>
            <a:off x="6210147" y="2084831"/>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The scope is limited to a single institution and a single cohort.</a:t>
            </a:r>
          </a:p>
        </p:txBody>
      </p:sp>
      <p:sp>
        <p:nvSpPr>
          <p:cNvPr id="18" name="TextBox 17"/>
          <p:cNvSpPr txBox="1"/>
          <p:nvPr/>
        </p:nvSpPr>
        <p:spPr>
          <a:xfrm>
            <a:off x="548640"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No longitudinal tracking across several cohorts was performed; no formal user study with large samples was conducted.</a:t>
            </a:r>
          </a:p>
        </p:txBody>
      </p:sp>
      <p:sp>
        <p:nvSpPr>
          <p:cNvPr id="19" name="TextBox 18"/>
          <p:cNvSpPr txBox="1"/>
          <p:nvPr/>
        </p:nvSpPr>
        <p:spPr>
          <a:xfrm>
            <a:off x="6210147" y="2345435"/>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Institutional deployment concerns such as integration with an existing Student Information System, longitudinal tracking and formal user studies are outside the current scope.</a:t>
            </a:r>
          </a:p>
        </p:txBody>
      </p:sp>
      <p:sp>
        <p:nvSpPr>
          <p:cNvPr id="20" name="TextBox 19"/>
          <p:cNvSpPr txBox="1"/>
          <p:nvPr/>
        </p:nvSpPr>
        <p:spPr>
          <a:xfrm>
            <a:off x="548640"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400"/>
              </a:spcAft>
            </a:pPr>
            <a:r>
              <a:rPr sz="1300" b="1">
                <a:solidFill>
                  <a:srgbClr val="F2CF86"/>
                </a:solidFill>
                <a:latin typeface="Calibri"/>
              </a:rPr>
              <a:t>5.6  Future Work</a:t>
            </a:r>
          </a:p>
        </p:txBody>
      </p:sp>
      <p:sp>
        <p:nvSpPr>
          <p:cNvPr id="21" name="TextBox 20"/>
          <p:cNvSpPr txBox="1"/>
          <p:nvPr/>
        </p:nvSpPr>
        <p:spPr>
          <a:xfrm>
            <a:off x="6210147" y="2606039"/>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Replace synthetic data with authorized institutional records; add longitudinal tracking and cohort comparison.</a:t>
            </a:r>
          </a:p>
        </p:txBody>
      </p:sp>
      <p:sp>
        <p:nvSpPr>
          <p:cNvPr id="22" name="TextBox 21"/>
          <p:cNvSpPr txBox="1"/>
          <p:nvPr/>
        </p:nvSpPr>
        <p:spPr>
          <a:xfrm>
            <a:off x="548640"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Introduce model drift monitoring and periodic retraining; explore deep models and LMS clickstream features.</a:t>
            </a:r>
          </a:p>
        </p:txBody>
      </p:sp>
      <p:sp>
        <p:nvSpPr>
          <p:cNvPr id="23" name="TextBox 22"/>
          <p:cNvSpPr txBox="1"/>
          <p:nvPr/>
        </p:nvSpPr>
        <p:spPr>
          <a:xfrm>
            <a:off x="6210147" y="2866643"/>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Run a controlled user study with large samples to measure real-world impact.</a:t>
            </a:r>
          </a:p>
        </p:txBody>
      </p:sp>
      <p:sp>
        <p:nvSpPr>
          <p:cNvPr id="24" name="TextBox 23"/>
          <p:cNvSpPr txBox="1"/>
          <p:nvPr/>
        </p:nvSpPr>
        <p:spPr>
          <a:xfrm>
            <a:off x="548640" y="3127247"/>
            <a:ext cx="5277459" cy="269748"/>
          </a:xfrm>
          <a:prstGeom prst="rect">
            <a:avLst/>
          </a:prstGeom>
          <a:noFill/>
        </p:spPr>
        <p:txBody>
          <a:bodyPr wrap="square" anchor="t" lIns="50800" rIns="50800" tIns="25400" bIns="25400">
            <a:spAutoFit/>
          </a:bodyPr>
          <a:lstStyle/>
          <a:p>
            <a:pPr algn="l">
              <a:lnSpc>
                <a:spcPct val="120000"/>
              </a:lnSpc>
              <a:spcBef>
                <a:spcPts val="0"/>
              </a:spcBef>
              <a:spcAft>
                <a:spcPts val="300"/>
              </a:spcAft>
            </a:pPr>
            <a:r>
              <a:rPr sz="1300">
                <a:solidFill>
                  <a:srgbClr val="E2E8F2"/>
                </a:solidFill>
                <a:latin typeface="Calibri"/>
              </a:rPr>
              <a:t>Extend the system to cover dropout prediction and GPA prediction in addition to risk-banding.</a:t>
            </a:r>
          </a:p>
        </p:txBody>
      </p:sp>
      <p:sp>
        <p:nvSpPr>
          <p:cNvPr id="25" name="Rectangle 24"/>
          <p:cNvSpPr/>
          <p:nvPr/>
        </p:nvSpPr>
        <p:spPr>
          <a:xfrm>
            <a:off x="6072987" y="1097280"/>
            <a:ext cx="12700" cy="493776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8" name="TextBox 27"/>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502920"/>
          </a:xfrm>
          <a:prstGeom prst="rect">
            <a:avLst/>
          </a:prstGeom>
          <a:noFill/>
        </p:spPr>
        <p:txBody>
          <a:bodyPr wrap="square" anchor="t" lIns="38100" rIns="38100" tIns="12700" bIns="12700">
            <a:spAutoFit/>
          </a:bodyPr>
          <a:lstStyle/>
          <a:p>
            <a:pPr algn="l">
              <a:lnSpc>
                <a:spcPct val="100000"/>
              </a:lnSpc>
            </a:pPr>
            <a:r>
              <a:rPr sz="2600" b="1" i="0">
                <a:solidFill>
                  <a:srgbClr val="FFFFFF"/>
                </a:solidFill>
                <a:latin typeface="Calibri"/>
              </a:rPr>
              <a:t>REFERENCES</a:t>
            </a:r>
          </a:p>
        </p:txBody>
      </p:sp>
      <p:sp>
        <p:nvSpPr>
          <p:cNvPr id="4" name="Rectangle 3"/>
          <p:cNvSpPr/>
          <p:nvPr/>
        </p:nvSpPr>
        <p:spPr>
          <a:xfrm>
            <a:off x="548640" y="896112"/>
            <a:ext cx="11064240" cy="12700"/>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7899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Baker, R.S. &amp; Inventado, P.S. (2014). Educational Data Mining and Learning Analytics. In Spector, J.M. et al. (eds.), Learning Analytics. Springer.</a:t>
            </a:r>
          </a:p>
        </p:txBody>
      </p:sp>
      <p:sp>
        <p:nvSpPr>
          <p:cNvPr id="6" name="TextBox 5"/>
          <p:cNvSpPr txBox="1"/>
          <p:nvPr/>
        </p:nvSpPr>
        <p:spPr>
          <a:xfrm>
            <a:off x="548640" y="167335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Bishop, C.M. (2006). Pattern Recognition and Machine Learning. Springer.</a:t>
            </a:r>
          </a:p>
        </p:txBody>
      </p:sp>
      <p:sp>
        <p:nvSpPr>
          <p:cNvPr id="7" name="TextBox 6"/>
          <p:cNvSpPr txBox="1"/>
          <p:nvPr/>
        </p:nvSpPr>
        <p:spPr>
          <a:xfrm>
            <a:off x="548640" y="190195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Breiman, L. (2001). Random Forests. Machine Learning, 45(1), 5–32.</a:t>
            </a:r>
          </a:p>
        </p:txBody>
      </p:sp>
      <p:sp>
        <p:nvSpPr>
          <p:cNvPr id="8" name="TextBox 7"/>
          <p:cNvSpPr txBox="1"/>
          <p:nvPr/>
        </p:nvSpPr>
        <p:spPr>
          <a:xfrm>
            <a:off x="548640" y="213055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Holmes, W. et al. (2019). Artificial Intelligence in Education. Center for Curriculum Redesign.</a:t>
            </a:r>
          </a:p>
        </p:txBody>
      </p:sp>
      <p:sp>
        <p:nvSpPr>
          <p:cNvPr id="9" name="TextBox 8"/>
          <p:cNvSpPr txBox="1"/>
          <p:nvPr/>
        </p:nvSpPr>
        <p:spPr>
          <a:xfrm>
            <a:off x="548640" y="235915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James, G. et al. (2013). An Introduction to Statistical Learning. Springer.</a:t>
            </a:r>
          </a:p>
        </p:txBody>
      </p:sp>
      <p:sp>
        <p:nvSpPr>
          <p:cNvPr id="10" name="TextBox 9"/>
          <p:cNvSpPr txBox="1"/>
          <p:nvPr/>
        </p:nvSpPr>
        <p:spPr>
          <a:xfrm>
            <a:off x="548640" y="258775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Kotsiantis, S. et al. (2004). Predicting Student Profile in Distance Learning Using Naive Bayes. Educational Technology &amp; Society.</a:t>
            </a:r>
          </a:p>
        </p:txBody>
      </p:sp>
      <p:sp>
        <p:nvSpPr>
          <p:cNvPr id="11" name="TextBox 10"/>
          <p:cNvSpPr txBox="1"/>
          <p:nvPr/>
        </p:nvSpPr>
        <p:spPr>
          <a:xfrm>
            <a:off x="548640" y="299923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Larose, D.T. (2014). Data Mining and Predictive Analytics. Wiley.</a:t>
            </a:r>
          </a:p>
        </p:txBody>
      </p:sp>
      <p:sp>
        <p:nvSpPr>
          <p:cNvPr id="12" name="TextBox 11"/>
          <p:cNvSpPr txBox="1"/>
          <p:nvPr/>
        </p:nvSpPr>
        <p:spPr>
          <a:xfrm>
            <a:off x="548640" y="322783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Luckin, R. et al. (2016). Intelligence Unleashed: An argument for AI in Education. Pearson.</a:t>
            </a:r>
          </a:p>
        </p:txBody>
      </p:sp>
      <p:sp>
        <p:nvSpPr>
          <p:cNvPr id="13" name="TextBox 12"/>
          <p:cNvSpPr txBox="1"/>
          <p:nvPr/>
        </p:nvSpPr>
        <p:spPr>
          <a:xfrm>
            <a:off x="6233007" y="107899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Pedregosa, F. et al. (2011). Scikit-learn: Machine Learning in Python. JMLR, 12, 2825–2830.</a:t>
            </a:r>
          </a:p>
        </p:txBody>
      </p:sp>
      <p:sp>
        <p:nvSpPr>
          <p:cNvPr id="14" name="TextBox 13"/>
          <p:cNvSpPr txBox="1"/>
          <p:nvPr/>
        </p:nvSpPr>
        <p:spPr>
          <a:xfrm>
            <a:off x="6233007" y="130759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Pena-Ayala, A. (2014). Learning Analytics: Educational Measurements Using Data Analytics. Springer.</a:t>
            </a:r>
          </a:p>
        </p:txBody>
      </p:sp>
      <p:sp>
        <p:nvSpPr>
          <p:cNvPr id="15" name="TextBox 14"/>
          <p:cNvSpPr txBox="1"/>
          <p:nvPr/>
        </p:nvSpPr>
        <p:spPr>
          <a:xfrm>
            <a:off x="6233007" y="171907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Plomp, T. (2013). Educational Design Research. SLO / UNDP.</a:t>
            </a:r>
          </a:p>
        </p:txBody>
      </p:sp>
      <p:sp>
        <p:nvSpPr>
          <p:cNvPr id="16" name="TextBox 15"/>
          <p:cNvSpPr txBox="1"/>
          <p:nvPr/>
        </p:nvSpPr>
        <p:spPr>
          <a:xfrm>
            <a:off x="6233007" y="194767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Pressman, R.S. &amp; Maxim, B.R. (2020). Software Engineering: A Practitioner’s Approach. McGraw-Hill.</a:t>
            </a:r>
          </a:p>
        </p:txBody>
      </p:sp>
      <p:sp>
        <p:nvSpPr>
          <p:cNvPr id="17" name="TextBox 16"/>
          <p:cNvSpPr txBox="1"/>
          <p:nvPr/>
        </p:nvSpPr>
        <p:spPr>
          <a:xfrm>
            <a:off x="6233007" y="235915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Romero, C. &amp; Ventura, S. (2010). Educational Data Mining: A Review of the State of the Art. IEEE Trans. SMC, 40(6), 131–151.</a:t>
            </a:r>
          </a:p>
        </p:txBody>
      </p:sp>
      <p:sp>
        <p:nvSpPr>
          <p:cNvPr id="18" name="TextBox 17"/>
          <p:cNvSpPr txBox="1"/>
          <p:nvPr/>
        </p:nvSpPr>
        <p:spPr>
          <a:xfrm>
            <a:off x="6233007" y="277063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Siemens, G. &amp; Long, P. (2011). Penetrating the Fog: Analytics in Learning and Education. EDUCAUSE Review, 46(5).</a:t>
            </a:r>
          </a:p>
        </p:txBody>
      </p:sp>
      <p:sp>
        <p:nvSpPr>
          <p:cNvPr id="19" name="TextBox 18"/>
          <p:cNvSpPr txBox="1"/>
          <p:nvPr/>
        </p:nvSpPr>
        <p:spPr>
          <a:xfrm>
            <a:off x="6233007" y="318211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Vapnik, V. (1998). Statistical Learning Theory. Wiley.</a:t>
            </a:r>
          </a:p>
        </p:txBody>
      </p:sp>
      <p:sp>
        <p:nvSpPr>
          <p:cNvPr id="20" name="TextBox 19"/>
          <p:cNvSpPr txBox="1"/>
          <p:nvPr/>
        </p:nvSpPr>
        <p:spPr>
          <a:xfrm>
            <a:off x="6233007" y="3410712"/>
            <a:ext cx="5318607" cy="365760"/>
          </a:xfrm>
          <a:prstGeom prst="rect">
            <a:avLst/>
          </a:prstGeom>
          <a:noFill/>
        </p:spPr>
        <p:txBody>
          <a:bodyPr wrap="square" anchor="t" lIns="50800" rIns="50800" tIns="25400" bIns="25400">
            <a:spAutoFit/>
          </a:bodyPr>
          <a:lstStyle/>
          <a:p>
            <a:pPr algn="l">
              <a:lnSpc>
                <a:spcPct val="118000"/>
              </a:lnSpc>
              <a:spcBef>
                <a:spcPts val="0"/>
              </a:spcBef>
              <a:spcAft>
                <a:spcPts val="500"/>
              </a:spcAft>
            </a:pPr>
            <a:r>
              <a:rPr sz="1150">
                <a:solidFill>
                  <a:srgbClr val="E2E8F2"/>
                </a:solidFill>
                <a:latin typeface="Calibri"/>
              </a:rPr>
              <a:t>Zawacki-Richter, O. et al. (2019). Systematic Review of Research on AI Applications in Higher Education. IJETHE.</a:t>
            </a:r>
          </a:p>
        </p:txBody>
      </p:sp>
      <p:sp>
        <p:nvSpPr>
          <p:cNvPr id="21" name="Rectangle 20"/>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23" name="TextBox 22"/>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62A"/>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91440" cy="6729984"/>
          </a:xfrm>
          <a:prstGeom prst="rect">
            <a:avLst/>
          </a:prstGeom>
          <a:solidFill>
            <a:srgbClr val="3A5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67047" y="2468880"/>
            <a:ext cx="3657600" cy="54864"/>
          </a:xfrm>
          <a:prstGeom prst="rect">
            <a:avLst/>
          </a:prstGeom>
          <a:solidFill>
            <a:srgbClr val="5B8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0"/>
            <a:ext cx="11277295" cy="1097280"/>
          </a:xfrm>
          <a:prstGeom prst="rect">
            <a:avLst/>
          </a:prstGeom>
          <a:noFill/>
        </p:spPr>
        <p:txBody>
          <a:bodyPr wrap="square" anchor="t" lIns="38100" rIns="38100" tIns="12700" bIns="12700">
            <a:spAutoFit/>
          </a:bodyPr>
          <a:lstStyle/>
          <a:p>
            <a:pPr algn="ctr">
              <a:lnSpc>
                <a:spcPct val="100000"/>
              </a:lnSpc>
            </a:pPr>
            <a:r>
              <a:rPr sz="5200" b="1" i="0">
                <a:solidFill>
                  <a:srgbClr val="FFFFFF"/>
                </a:solidFill>
                <a:latin typeface="Calibri"/>
              </a:rPr>
              <a:t>THANK YOU</a:t>
            </a:r>
          </a:p>
        </p:txBody>
      </p:sp>
      <p:sp>
        <p:nvSpPr>
          <p:cNvPr id="6" name="TextBox 5"/>
          <p:cNvSpPr txBox="1"/>
          <p:nvPr/>
        </p:nvSpPr>
        <p:spPr>
          <a:xfrm>
            <a:off x="457200" y="3749039"/>
            <a:ext cx="11277295" cy="731520"/>
          </a:xfrm>
          <a:prstGeom prst="rect">
            <a:avLst/>
          </a:prstGeom>
          <a:noFill/>
        </p:spPr>
        <p:txBody>
          <a:bodyPr wrap="square" anchor="t" lIns="38100" rIns="38100" tIns="12700" bIns="12700">
            <a:spAutoFit/>
          </a:bodyPr>
          <a:lstStyle/>
          <a:p>
            <a:pPr algn="ctr">
              <a:lnSpc>
                <a:spcPct val="100000"/>
              </a:lnSpc>
            </a:pPr>
            <a:r>
              <a:rPr sz="2200" b="0" i="0">
                <a:solidFill>
                  <a:srgbClr val="E2E8F2"/>
                </a:solidFill>
                <a:latin typeface="Calibri"/>
              </a:rPr>
              <a:t>Questions &amp; Discussion</a:t>
            </a:r>
          </a:p>
        </p:txBody>
      </p:sp>
      <p:sp>
        <p:nvSpPr>
          <p:cNvPr id="7" name="Rectangle 6"/>
          <p:cNvSpPr/>
          <p:nvPr/>
        </p:nvSpPr>
        <p:spPr>
          <a:xfrm>
            <a:off x="4206240" y="4709160"/>
            <a:ext cx="3776472" cy="36576"/>
          </a:xfrm>
          <a:prstGeom prst="rect">
            <a:avLst/>
          </a:prstGeom>
          <a:solidFill>
            <a:srgbClr val="E8B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846320"/>
            <a:ext cx="11277295" cy="365760"/>
          </a:xfrm>
          <a:prstGeom prst="rect">
            <a:avLst/>
          </a:prstGeom>
          <a:noFill/>
        </p:spPr>
        <p:txBody>
          <a:bodyPr wrap="square" anchor="t" lIns="38100" rIns="38100" tIns="12700" bIns="12700">
            <a:spAutoFit/>
          </a:bodyPr>
          <a:lstStyle/>
          <a:p>
            <a:pPr algn="ctr">
              <a:lnSpc>
                <a:spcPct val="100000"/>
              </a:lnSpc>
            </a:pPr>
            <a:r>
              <a:rPr sz="1800" b="1" i="0">
                <a:solidFill>
                  <a:srgbClr val="FFFFFF"/>
                </a:solidFill>
                <a:latin typeface="Calibri"/>
              </a:rPr>
              <a:t>[STUDENT NAME]</a:t>
            </a:r>
          </a:p>
        </p:txBody>
      </p:sp>
      <p:sp>
        <p:nvSpPr>
          <p:cNvPr id="9" name="TextBox 8"/>
          <p:cNvSpPr txBox="1"/>
          <p:nvPr/>
        </p:nvSpPr>
        <p:spPr>
          <a:xfrm>
            <a:off x="457200" y="5230368"/>
            <a:ext cx="1127729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(ID)</a:t>
            </a:r>
          </a:p>
        </p:txBody>
      </p:sp>
      <p:sp>
        <p:nvSpPr>
          <p:cNvPr id="10" name="TextBox 9"/>
          <p:cNvSpPr txBox="1"/>
          <p:nvPr/>
        </p:nvSpPr>
        <p:spPr>
          <a:xfrm>
            <a:off x="457200" y="5532120"/>
            <a:ext cx="1127729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DEPARTMENT OF COMPUTER SCIENCE</a:t>
            </a:r>
          </a:p>
        </p:txBody>
      </p:sp>
      <p:sp>
        <p:nvSpPr>
          <p:cNvPr id="11" name="TextBox 10"/>
          <p:cNvSpPr txBox="1"/>
          <p:nvPr/>
        </p:nvSpPr>
        <p:spPr>
          <a:xfrm>
            <a:off x="457200" y="5833872"/>
            <a:ext cx="11277295" cy="310896"/>
          </a:xfrm>
          <a:prstGeom prst="rect">
            <a:avLst/>
          </a:prstGeom>
          <a:noFill/>
        </p:spPr>
        <p:txBody>
          <a:bodyPr wrap="square" anchor="t" lIns="38100" rIns="38100" tIns="12700" bIns="12700">
            <a:spAutoFit/>
          </a:bodyPr>
          <a:lstStyle/>
          <a:p>
            <a:pPr algn="ctr">
              <a:lnSpc>
                <a:spcPct val="100000"/>
              </a:lnSpc>
            </a:pPr>
            <a:r>
              <a:rPr sz="1300" b="0" i="0">
                <a:solidFill>
                  <a:srgbClr val="9AA6BC"/>
                </a:solidFill>
                <a:latin typeface="Calibri"/>
              </a:rPr>
              <a:t>UNIVERSITY OF GHANA</a:t>
            </a:r>
          </a:p>
        </p:txBody>
      </p:sp>
      <p:sp>
        <p:nvSpPr>
          <p:cNvPr id="12" name="TextBox 11"/>
          <p:cNvSpPr txBox="1"/>
          <p:nvPr/>
        </p:nvSpPr>
        <p:spPr>
          <a:xfrm>
            <a:off x="457200" y="6199632"/>
            <a:ext cx="11277295" cy="310896"/>
          </a:xfrm>
          <a:prstGeom prst="rect">
            <a:avLst/>
          </a:prstGeom>
          <a:noFill/>
        </p:spPr>
        <p:txBody>
          <a:bodyPr wrap="square" anchor="t" lIns="38100" rIns="38100" tIns="12700" bIns="12700">
            <a:spAutoFit/>
          </a:bodyPr>
          <a:lstStyle/>
          <a:p>
            <a:pPr algn="ctr">
              <a:lnSpc>
                <a:spcPct val="100000"/>
              </a:lnSpc>
            </a:pPr>
            <a:r>
              <a:rPr sz="1200" b="0" i="1">
                <a:solidFill>
                  <a:srgbClr val="6B778C"/>
                </a:solidFill>
                <a:latin typeface="Calibri"/>
              </a:rPr>
              <a:t>[MONTH] / [YEAR]</a:t>
            </a:r>
          </a:p>
        </p:txBody>
      </p:sp>
      <p:sp>
        <p:nvSpPr>
          <p:cNvPr id="13" name="Rectangle 12"/>
          <p:cNvSpPr/>
          <p:nvPr/>
        </p:nvSpPr>
        <p:spPr>
          <a:xfrm>
            <a:off x="457200" y="6419088"/>
            <a:ext cx="11274552" cy="9525"/>
          </a:xfrm>
          <a:prstGeom prst="rect">
            <a:avLst/>
          </a:prstGeom>
          <a:solidFill>
            <a:srgbClr val="2A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455664"/>
            <a:ext cx="5486400" cy="292608"/>
          </a:xfrm>
          <a:prstGeom prst="rect">
            <a:avLst/>
          </a:prstGeom>
          <a:noFill/>
        </p:spPr>
        <p:txBody>
          <a:bodyPr wrap="square" anchor="t" lIns="38100" rIns="38100" tIns="12700" bIns="12700">
            <a:spAutoFit/>
          </a:bodyPr>
          <a:lstStyle/>
          <a:p>
            <a:pPr algn="l">
              <a:lnSpc>
                <a:spcPct val="100000"/>
              </a:lnSpc>
            </a:pPr>
            <a:r>
              <a:rPr sz="900" b="0" i="1">
                <a:solidFill>
                  <a:srgbClr val="6B778C"/>
                </a:solidFill>
                <a:latin typeface="Calibri"/>
              </a:rPr>
              <a:t>EduRisk Predictor  •  University of Ghana</a:t>
            </a:r>
          </a:p>
        </p:txBody>
      </p:sp>
      <p:sp>
        <p:nvSpPr>
          <p:cNvPr id="15" name="TextBox 14"/>
          <p:cNvSpPr txBox="1"/>
          <p:nvPr/>
        </p:nvSpPr>
        <p:spPr>
          <a:xfrm>
            <a:off x="10058400" y="6455664"/>
            <a:ext cx="1645920" cy="292608"/>
          </a:xfrm>
          <a:prstGeom prst="rect">
            <a:avLst/>
          </a:prstGeom>
          <a:noFill/>
        </p:spPr>
        <p:txBody>
          <a:bodyPr wrap="square" anchor="t" lIns="38100" rIns="38100" tIns="12700" bIns="12700">
            <a:spAutoFit/>
          </a:bodyPr>
          <a:lstStyle/>
          <a:p>
            <a:pPr algn="r">
              <a:lnSpc>
                <a:spcPct val="100000"/>
              </a:lnSpc>
            </a:pPr>
            <a:r>
              <a:rPr sz="900" b="0" i="0">
                <a:solidFill>
                  <a:srgbClr val="6B778C"/>
                </a:solidFill>
                <a:latin typeface="Calibr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